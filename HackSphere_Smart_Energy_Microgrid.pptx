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judges and evaluators. Today we present our HackSphere 3.0 Smart Energy Microgrid and Demand Forecasting Engine. Our platform combines published Zoho Catalyst QuickML pipelines with real-time autonomous transition logic and an interactive 7-tab SCADA cockpit, fully deployed on Zoho Catalyst AppSail.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Microgrids face a delicate balance: managing volatile localized loads while minimizing grid surcharges and protecting expensive battery assets. Without accurate 24-hour demand forecasting, grid transfers are reactive rather than predictive, risking substation overload and accelerated battery degradation.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solution integrates four distinct layers: an AI demand forecasting pipeline powered by Zoho Catalyst QuickML, a deterministic switching controller that enforces the competition thresholds, a physical battery simulator that honors a 10% reserve cutoff, and an industrial React 19 cockpit deployed on Catalyst AppSail.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requirement in the HackSphere 3.0 problem statement is 100% satisfied. The table on this slide maps each official specification directly to our engine implementation, from the 160 kW renewable switch to the 200 kW overload alert and the 10% battery floor cutoff.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illustrates our complete cloud architecture. We ingest weather telemetry, send it to the published Zoho Catalyst QuickML endpoint for hourly demand inference, feed the predictions to our deterministic transition controller, and visualize the live grid status on the AppSail container.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tech stack was carefully chosen for reliability and performance: Zoho Catalyst AppSail handles the container hosting, QuickML delivers the machine learning inference, Flask powers our backend, and React 19 with jsPDF renders the operator dashboard and exportable reports.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demand forecasting, we engineered 14 meteorological and calendar features from the starter kit data. The feature importance chart on the right shows that cooling load and cyclical hour encoding drive over 50% of the prediction weight. Our 5-fold cross-validation RMSE of 10.03 kW ensures high precision.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transition controller enforces four strict rules. On the right, you see the actual 24-hour demand forecast plotted against the 160 kW renewable threshold and 200 kW critical overload ceiling. Notice how the evening peak hours from 18 to 22 automatically trigger renewable storage mode.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showcases the physical battery simulation. As shown in the graph on the left, when high demand occurs at hour 8, the battery discharges to cover local demand. When it reaches 10% SOC—50 kWh—our controller locks discharge to protect cell life, routing subsequent demand to the main grid.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Rather than a cluttered single page, our web interface is organized into 7 structured operational views. Shift operators can review the overview cockpit, test point sensor inputs, drag-and-drop CSV telemetry, inspect hourly relay transitions, or generate instant AI strategic advisory reports.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maintain engineering integrity, we clearly distinguish our verified results from current limitations. Our engine passes the test_eval.py contract with 10.03 kW RMSE. Limitations such as static tariff windows and single-bus topology provide a clear, exciting roadmap for post-hackathon scaling.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our HackSphere 3.0 Smart Energy Microgrid project delivers a fully validated, production-deployed solution. We invite the judges to explore the live AppSail application, review our GitHub repository, and we welcome any questions.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931920"/>
          </a:xfrm>
          <a:prstGeom prst="rect">
            <a:avLst/>
          </a:prstGeom>
          <a:solidFill>
            <a:srgbClr val="002855"/>
          </a:solidFill>
          <a:ln>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32720" cy="365760"/>
          </a:xfrm>
          <a:prstGeom prst="rect">
            <a:avLst/>
          </a:prstGeom>
          <a:noFill/>
        </p:spPr>
        <p:txBody>
          <a:bodyPr wrap="none">
            <a:spAutoFit/>
          </a:bodyPr>
          <a:lstStyle/>
          <a:p>
            <a:pPr>
              <a:defRPr sz="1100" b="1">
                <a:solidFill>
                  <a:srgbClr val="34D399"/>
                </a:solidFill>
              </a:defRPr>
            </a:pPr>
            <a:r>
              <a:t>HACKSPHERE 3.0 · FLAGSHIP AI/ML &amp; CLOUD TRACK</a:t>
            </a:r>
          </a:p>
        </p:txBody>
      </p:sp>
      <p:sp>
        <p:nvSpPr>
          <p:cNvPr id="4" name="TextBox 3"/>
          <p:cNvSpPr txBox="1"/>
          <p:nvPr/>
        </p:nvSpPr>
        <p:spPr>
          <a:xfrm>
            <a:off x="914400" y="1097280"/>
            <a:ext cx="10332720" cy="1188720"/>
          </a:xfrm>
          <a:prstGeom prst="rect">
            <a:avLst/>
          </a:prstGeom>
          <a:noFill/>
        </p:spPr>
        <p:txBody>
          <a:bodyPr wrap="none">
            <a:spAutoFit/>
          </a:bodyPr>
          <a:lstStyle/>
          <a:p>
            <a:pPr>
              <a:defRPr sz="2900" b="1">
                <a:solidFill>
                  <a:srgbClr val="FFFFFF"/>
                </a:solidFill>
              </a:defRPr>
            </a:pPr>
            <a:r>
              <a:t>Smart Energy Microgrid &amp; Demand Forecasting Engine</a:t>
            </a:r>
          </a:p>
        </p:txBody>
      </p:sp>
      <p:sp>
        <p:nvSpPr>
          <p:cNvPr id="5" name="TextBox 4"/>
          <p:cNvSpPr txBox="1"/>
          <p:nvPr/>
        </p:nvSpPr>
        <p:spPr>
          <a:xfrm>
            <a:off x="914400" y="2286000"/>
            <a:ext cx="10332720" cy="731520"/>
          </a:xfrm>
          <a:prstGeom prst="rect">
            <a:avLst/>
          </a:prstGeom>
          <a:noFill/>
        </p:spPr>
        <p:txBody>
          <a:bodyPr wrap="none">
            <a:spAutoFit/>
          </a:bodyPr>
          <a:lstStyle/>
          <a:p>
            <a:pPr>
              <a:defRPr sz="1500">
                <a:solidFill>
                  <a:srgbClr val="E2E8F0"/>
                </a:solidFill>
              </a:defRPr>
            </a:pPr>
            <a:r>
              <a:t>Autonomous Demand Prediction, Real-Time Grid-Storage Switching, and Telemetry Cockpit</a:t>
            </a:r>
          </a:p>
        </p:txBody>
      </p:sp>
      <p:sp>
        <p:nvSpPr>
          <p:cNvPr id="6" name="TextBox 5"/>
          <p:cNvSpPr txBox="1"/>
          <p:nvPr/>
        </p:nvSpPr>
        <p:spPr>
          <a:xfrm>
            <a:off x="914400" y="3108960"/>
            <a:ext cx="10332720" cy="457200"/>
          </a:xfrm>
          <a:prstGeom prst="rect">
            <a:avLst/>
          </a:prstGeom>
          <a:noFill/>
        </p:spPr>
        <p:txBody>
          <a:bodyPr wrap="none">
            <a:spAutoFit/>
          </a:bodyPr>
          <a:lstStyle/>
          <a:p>
            <a:pPr>
              <a:defRPr sz="1100" b="1">
                <a:solidFill>
                  <a:srgbClr val="FEF08A"/>
                </a:solidFill>
              </a:defRPr>
            </a:pPr>
            <a:r>
              <a:t>Powered by Zoho Catalyst AppSail · Catalyst QuickML Pipeline · Gradient Boosting · React 19</a:t>
            </a:r>
          </a:p>
        </p:txBody>
      </p:sp>
      <p:sp>
        <p:nvSpPr>
          <p:cNvPr id="7" name="Rounded Rectangle 6"/>
          <p:cNvSpPr/>
          <p:nvPr/>
        </p:nvSpPr>
        <p:spPr>
          <a:xfrm>
            <a:off x="914400" y="4297680"/>
            <a:ext cx="320040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defRPr sz="1300" b="1">
                <a:solidFill>
                  <a:srgbClr val="002855"/>
                </a:solidFill>
              </a:defRPr>
            </a:pPr>
            <a:r>
              <a:t>Cloud Deployment</a:t>
            </a:r>
          </a:p>
          <a:p>
            <a:pPr>
              <a:defRPr sz="900" i="1">
                <a:solidFill>
                  <a:srgbClr val="64748B"/>
                </a:solidFill>
              </a:defRPr>
            </a:pPr>
            <a:r>
              <a:t>Zoho Catalyst Serverless Container</a:t>
            </a:r>
          </a:p>
          <a:p>
            <a:pPr>
              <a:defRPr sz="950"/>
            </a:pPr>
            <a:r>
              <a:t>• Live AppSail Container URL: hacksphere-microgrid-1</a:t>
            </a:r>
          </a:p>
          <a:p>
            <a:pPr>
              <a:defRPr sz="950"/>
            </a:pPr>
            <a:r>
              <a:t>• Integrated SPA: Python 3.11 Flask + React 19</a:t>
            </a:r>
          </a:p>
          <a:p>
            <a:pPr>
              <a:defRPr sz="950"/>
            </a:pPr>
            <a:r>
              <a:t>• TLS 1.3 encrypted REST API endpoints</a:t>
            </a:r>
          </a:p>
        </p:txBody>
      </p:sp>
      <p:sp>
        <p:nvSpPr>
          <p:cNvPr id="8" name="Rounded Rectangle 7"/>
          <p:cNvSpPr/>
          <p:nvPr/>
        </p:nvSpPr>
        <p:spPr>
          <a:xfrm>
            <a:off x="4480560" y="4297680"/>
            <a:ext cx="320040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defRPr sz="1300" b="1">
                <a:solidFill>
                  <a:srgbClr val="002855"/>
                </a:solidFill>
              </a:defRPr>
            </a:pPr>
            <a:r>
              <a:t>ML Engine &amp; Validation</a:t>
            </a:r>
          </a:p>
          <a:p>
            <a:pPr>
              <a:defRPr sz="900" i="1">
                <a:solidFill>
                  <a:srgbClr val="64748B"/>
                </a:solidFill>
              </a:defRPr>
            </a:pPr>
            <a:r>
              <a:t>QuickML &amp; Gradient Boosting</a:t>
            </a:r>
          </a:p>
          <a:p>
            <a:pPr>
              <a:defRPr sz="950"/>
            </a:pPr>
            <a:r>
              <a:t>• Published QuickML REST Inference Pipeline</a:t>
            </a:r>
          </a:p>
          <a:p>
            <a:pPr>
              <a:defRPr sz="950"/>
            </a:pPr>
            <a:r>
              <a:t>• 5-Fold Cross-Validation RMSE: 10.03 kW</a:t>
            </a:r>
          </a:p>
          <a:p>
            <a:pPr>
              <a:defRPr sz="950"/>
            </a:pPr>
            <a:r>
              <a:t>• test_eval.py Contract Test: SUCCESS (1,000 rows)</a:t>
            </a:r>
          </a:p>
        </p:txBody>
      </p:sp>
      <p:sp>
        <p:nvSpPr>
          <p:cNvPr id="9" name="Rounded Rectangle 8"/>
          <p:cNvSpPr/>
          <p:nvPr/>
        </p:nvSpPr>
        <p:spPr>
          <a:xfrm>
            <a:off x="8046720" y="4297680"/>
            <a:ext cx="320040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defRPr sz="1300" b="1">
                <a:solidFill>
                  <a:srgbClr val="002855"/>
                </a:solidFill>
              </a:defRPr>
            </a:pPr>
            <a:r>
              <a:t>Team &amp; Repository</a:t>
            </a:r>
          </a:p>
          <a:p>
            <a:pPr>
              <a:defRPr sz="900" i="1">
                <a:solidFill>
                  <a:srgbClr val="64748B"/>
                </a:solidFill>
              </a:defRPr>
            </a:pPr>
            <a:r>
              <a:t>Production Open-Source</a:t>
            </a:r>
          </a:p>
          <a:p>
            <a:pPr>
              <a:defRPr sz="950"/>
            </a:pPr>
            <a:r>
              <a:t>• Author: Bharadwaj C S (bharathcsin@gmail.com)</a:t>
            </a:r>
          </a:p>
          <a:p>
            <a:pPr>
              <a:defRPr sz="950"/>
            </a:pPr>
            <a:r>
              <a:t>• GitHub: Bharadwajcs-AI/HackSphere3.0-Microgrid</a:t>
            </a:r>
          </a:p>
          <a:p>
            <a:pPr>
              <a:defRPr sz="950"/>
            </a:pPr>
            <a:r>
              <a:t>• Track: Smart Grid &amp; Sustainable Energy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5912" cy="36576"/>
          </a:xfrm>
          <a:prstGeom prst="rect">
            <a:avLst/>
          </a:prstGeom>
          <a:solidFill>
            <a:srgbClr val="002855"/>
          </a:solidFill>
          <a:ln>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5912" cy="274320"/>
          </a:xfrm>
          <a:prstGeom prst="rect">
            <a:avLst/>
          </a:prstGeom>
          <a:noFill/>
        </p:spPr>
        <p:txBody>
          <a:bodyPr wrap="square">
            <a:spAutoFit/>
          </a:bodyPr>
          <a:lstStyle/>
          <a:p>
            <a:pPr>
              <a:defRPr sz="950" b="1">
                <a:solidFill>
                  <a:srgbClr val="0D9488"/>
                </a:solidFill>
              </a:defRPr>
            </a:pPr>
            <a:r>
              <a:t>01 / CHALLENGE ANALYSIS</a:t>
            </a:r>
          </a:p>
        </p:txBody>
      </p:sp>
      <p:sp>
        <p:nvSpPr>
          <p:cNvPr id="4" name="TextBox 3"/>
          <p:cNvSpPr txBox="1"/>
          <p:nvPr/>
        </p:nvSpPr>
        <p:spPr>
          <a:xfrm>
            <a:off x="731520" y="658368"/>
            <a:ext cx="10725912" cy="548640"/>
          </a:xfrm>
          <a:prstGeom prst="rect">
            <a:avLst/>
          </a:prstGeom>
          <a:noFill/>
        </p:spPr>
        <p:txBody>
          <a:bodyPr wrap="square">
            <a:spAutoFit/>
          </a:bodyPr>
          <a:lstStyle/>
          <a:p>
            <a:pPr>
              <a:defRPr sz="2200" b="1">
                <a:solidFill>
                  <a:srgbClr val="002855"/>
                </a:solidFill>
              </a:defRPr>
            </a:pPr>
            <a:r>
              <a:t>Problem Statement: The Microgrid Reliability Challenge</a:t>
            </a:r>
          </a:p>
        </p:txBody>
      </p:sp>
      <p:sp>
        <p:nvSpPr>
          <p:cNvPr id="5" name="Rounded Rectangle 4"/>
          <p:cNvSpPr/>
          <p:nvPr/>
        </p:nvSpPr>
        <p:spPr>
          <a:xfrm>
            <a:off x="731520" y="1371600"/>
            <a:ext cx="3291840" cy="3840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defRPr sz="1300" b="1">
                <a:solidFill>
                  <a:srgbClr val="002855"/>
                </a:solidFill>
              </a:defRPr>
            </a:pPr>
            <a:r>
              <a:t>1. Load Volatility &amp; Thermal Overstress</a:t>
            </a:r>
          </a:p>
          <a:p>
            <a:pPr>
              <a:defRPr sz="950"/>
            </a:pPr>
            <a:r>
              <a:t>• Sudden meteorological swings (solar irradiance dips, heatwaves) cause rapid spikes in local demand.</a:t>
            </a:r>
          </a:p>
          <a:p>
            <a:pPr>
              <a:defRPr sz="950"/>
            </a:pPr>
            <a:r>
              <a:t>• Feeder distribution transformers risk catastrophic failure and severe overheating when loads breach 200 kW limits.</a:t>
            </a:r>
          </a:p>
          <a:p>
            <a:pPr>
              <a:defRPr sz="950"/>
            </a:pPr>
            <a:r>
              <a:t>• Manual human dispatch is too slow to react to intra-hour spikes.</a:t>
            </a:r>
          </a:p>
        </p:txBody>
      </p:sp>
      <p:sp>
        <p:nvSpPr>
          <p:cNvPr id="6" name="Rounded Rectangle 5"/>
          <p:cNvSpPr/>
          <p:nvPr/>
        </p:nvSpPr>
        <p:spPr>
          <a:xfrm>
            <a:off x="4389120" y="1371600"/>
            <a:ext cx="3291840" cy="3840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defRPr sz="1300" b="1">
                <a:solidFill>
                  <a:srgbClr val="002855"/>
                </a:solidFill>
              </a:defRPr>
            </a:pPr>
            <a:r>
              <a:t>2. Peak-Hour Tariffs &amp; Emission Penalties</a:t>
            </a:r>
          </a:p>
          <a:p>
            <a:pPr>
              <a:defRPr sz="950"/>
            </a:pPr>
            <a:r>
              <a:t>• Utility grids enforce extreme peak tariff surcharges during evening hours (18:00 to 22:00).</a:t>
            </a:r>
          </a:p>
          <a:p>
            <a:pPr>
              <a:defRPr sz="950"/>
            </a:pPr>
            <a:r>
              <a:t>• Drawing high loads from the main grid during peak hours strains regional utilities and increases carbon intensity.</a:t>
            </a:r>
          </a:p>
          <a:p>
            <a:pPr>
              <a:defRPr sz="950"/>
            </a:pPr>
            <a:r>
              <a:t>• Lack of predictive routing leads to suboptimal renewable utilization.</a:t>
            </a:r>
          </a:p>
        </p:txBody>
      </p:sp>
      <p:sp>
        <p:nvSpPr>
          <p:cNvPr id="7" name="Rounded Rectangle 6"/>
          <p:cNvSpPr/>
          <p:nvPr/>
        </p:nvSpPr>
        <p:spPr>
          <a:xfrm>
            <a:off x="8046720" y="1371600"/>
            <a:ext cx="3291840" cy="3840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defRPr sz="1300" b="1">
                <a:solidFill>
                  <a:srgbClr val="002855"/>
                </a:solidFill>
              </a:defRPr>
            </a:pPr>
            <a:r>
              <a:t>3. Battery Degradation &amp; Depth-of-Discharge</a:t>
            </a:r>
          </a:p>
          <a:p>
            <a:pPr>
              <a:defRPr sz="950"/>
            </a:pPr>
            <a:r>
              <a:t>• Over-discharging localized batteries below 10% SOC causes irreversible lithium cell degradation.</a:t>
            </a:r>
          </a:p>
          <a:p>
            <a:pPr>
              <a:defRPr sz="950"/>
            </a:pPr>
            <a:r>
              <a:t>• Operators need deterministic safety locks to halt discharge at exactly 50 kWh reserve floor.</a:t>
            </a:r>
          </a:p>
          <a:p>
            <a:pPr>
              <a:defRPr sz="950"/>
            </a:pPr>
            <a:r>
              <a:t>• Requires 50 kW off-peak grid charging synchronization.</a:t>
            </a:r>
          </a:p>
        </p:txBody>
      </p:sp>
      <p:sp>
        <p:nvSpPr>
          <p:cNvPr id="8" name="Rectangle 7"/>
          <p:cNvSpPr/>
          <p:nvPr/>
        </p:nvSpPr>
        <p:spPr>
          <a:xfrm>
            <a:off x="731520" y="5486400"/>
            <a:ext cx="10607040" cy="822960"/>
          </a:xfrm>
          <a:prstGeom prst="rect">
            <a:avLst/>
          </a:prstGeom>
          <a:solidFill>
            <a:srgbClr val="FEF2F2"/>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DC2626"/>
                </a:solidFill>
              </a:defRPr>
            </a:pPr>
            <a:r>
              <a:t>CORE CHALLENGE: How can an autonomous microgrid proactively forecast hourly demand 24 hours ahead, switch between Main Grid and Renewable Storage seamlessly, and protect battery longevity without operator intervention?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5912" cy="36576"/>
          </a:xfrm>
          <a:prstGeom prst="rect">
            <a:avLst/>
          </a:prstGeom>
          <a:solidFill>
            <a:srgbClr val="002855"/>
          </a:solidFill>
          <a:ln>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5912" cy="274320"/>
          </a:xfrm>
          <a:prstGeom prst="rect">
            <a:avLst/>
          </a:prstGeom>
          <a:noFill/>
        </p:spPr>
        <p:txBody>
          <a:bodyPr wrap="square">
            <a:spAutoFit/>
          </a:bodyPr>
          <a:lstStyle/>
          <a:p>
            <a:pPr>
              <a:defRPr sz="950" b="1">
                <a:solidFill>
                  <a:srgbClr val="0D9488"/>
                </a:solidFill>
              </a:defRPr>
            </a:pPr>
            <a:r>
              <a:t>02 / SOLUTION ARCHITECTURE</a:t>
            </a:r>
          </a:p>
        </p:txBody>
      </p:sp>
      <p:sp>
        <p:nvSpPr>
          <p:cNvPr id="4" name="TextBox 3"/>
          <p:cNvSpPr txBox="1"/>
          <p:nvPr/>
        </p:nvSpPr>
        <p:spPr>
          <a:xfrm>
            <a:off x="731520" y="658368"/>
            <a:ext cx="10725912" cy="548640"/>
          </a:xfrm>
          <a:prstGeom prst="rect">
            <a:avLst/>
          </a:prstGeom>
          <a:noFill/>
        </p:spPr>
        <p:txBody>
          <a:bodyPr wrap="square">
            <a:spAutoFit/>
          </a:bodyPr>
          <a:lstStyle/>
          <a:p>
            <a:pPr>
              <a:defRPr sz="2200" b="1">
                <a:solidFill>
                  <a:srgbClr val="002855"/>
                </a:solidFill>
              </a:defRPr>
            </a:pPr>
            <a:r>
              <a:t>Proposed Solution: Autonomous Predictive Microgrid Engine</a:t>
            </a:r>
          </a:p>
        </p:txBody>
      </p:sp>
      <p:sp>
        <p:nvSpPr>
          <p:cNvPr id="5" name="Rounded Rectangle 4"/>
          <p:cNvSpPr/>
          <p:nvPr/>
        </p:nvSpPr>
        <p:spPr>
          <a:xfrm>
            <a:off x="731520" y="1371600"/>
            <a:ext cx="512064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defRPr sz="1300" b="1">
                <a:solidFill>
                  <a:srgbClr val="002855"/>
                </a:solidFill>
              </a:defRPr>
            </a:pPr>
            <a:r>
              <a:t>Predictive Intelligence (QuickML &amp; ML Pipeline)</a:t>
            </a:r>
          </a:p>
          <a:p>
            <a:pPr>
              <a:defRPr sz="900" i="1">
                <a:solidFill>
                  <a:srgbClr val="64748B"/>
                </a:solidFill>
              </a:defRPr>
            </a:pPr>
            <a:r>
              <a:t>24-Hour Horizon Ahead</a:t>
            </a:r>
          </a:p>
          <a:p>
            <a:pPr>
              <a:defRPr sz="950"/>
            </a:pPr>
            <a:r>
              <a:t>• Automated feature extraction: cyclical temporal transforms, cooling degree load, solar-thermal ratios.</a:t>
            </a:r>
          </a:p>
          <a:p>
            <a:pPr>
              <a:defRPr sz="950"/>
            </a:pPr>
            <a:r>
              <a:t>• Published Zoho Catalyst QuickML endpoint with zero-latency trained local GBR fallback.</a:t>
            </a:r>
          </a:p>
          <a:p>
            <a:pPr>
              <a:defRPr sz="950"/>
            </a:pPr>
            <a:r>
              <a:t>• Evaluates complete 24-hour horizon in a single batch (&lt;50ms).</a:t>
            </a:r>
          </a:p>
        </p:txBody>
      </p:sp>
      <p:sp>
        <p:nvSpPr>
          <p:cNvPr id="6" name="Rounded Rectangle 5"/>
          <p:cNvSpPr/>
          <p:nvPr/>
        </p:nvSpPr>
        <p:spPr>
          <a:xfrm>
            <a:off x="6217920" y="1371600"/>
            <a:ext cx="512064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defRPr sz="1300" b="1">
                <a:solidFill>
                  <a:srgbClr val="002855"/>
                </a:solidFill>
              </a:defRPr>
            </a:pPr>
            <a:r>
              <a:t>Deterministic Grid Transition Controller</a:t>
            </a:r>
          </a:p>
          <a:p>
            <a:pPr>
              <a:defRPr sz="900" i="1">
                <a:solidFill>
                  <a:srgbClr val="64748B"/>
                </a:solidFill>
              </a:defRPr>
            </a:pPr>
            <a:r>
              <a:t>Rule-Based Closed Loop</a:t>
            </a:r>
          </a:p>
          <a:p>
            <a:pPr>
              <a:defRPr sz="950"/>
            </a:pPr>
            <a:r>
              <a:t>• Rule 1: Demand &gt; 160 kW OR 18:00–22:00 → Automated Renewable Storage Mode.</a:t>
            </a:r>
          </a:p>
          <a:p>
            <a:pPr>
              <a:defRPr sz="950"/>
            </a:pPr>
            <a:r>
              <a:t>• Rule 2: Demand ≤ 160 kW &amp; Off-Peak → Main Grid Mode + 50 kW battery recharge.</a:t>
            </a:r>
          </a:p>
          <a:p>
            <a:pPr>
              <a:defRPr sz="950"/>
            </a:pPr>
            <a:r>
              <a:t>• Rule 3: Demand ≥ 200 kW → Independent Critical Overload Alert.</a:t>
            </a:r>
          </a:p>
        </p:txBody>
      </p:sp>
      <p:sp>
        <p:nvSpPr>
          <p:cNvPr id="7" name="Rounded Rectangle 6"/>
          <p:cNvSpPr/>
          <p:nvPr/>
        </p:nvSpPr>
        <p:spPr>
          <a:xfrm>
            <a:off x="731520" y="3840480"/>
            <a:ext cx="5120640"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defRPr sz="1300" b="1">
                <a:solidFill>
                  <a:srgbClr val="002855"/>
                </a:solidFill>
              </a:defRPr>
            </a:pPr>
            <a:r>
              <a:t>500 kWh Energy Storage Physical Simulation</a:t>
            </a:r>
          </a:p>
          <a:p>
            <a:pPr>
              <a:defRPr sz="900" i="1">
                <a:solidFill>
                  <a:srgbClr val="64748B"/>
                </a:solidFill>
              </a:defRPr>
            </a:pPr>
            <a:r>
              <a:t>Cell Longevity Protection</a:t>
            </a:r>
          </a:p>
          <a:p>
            <a:pPr>
              <a:defRPr sz="950"/>
            </a:pPr>
            <a:r>
              <a:t>• Models 92% round-trip conversion efficiency on both charge and discharge.</a:t>
            </a:r>
          </a:p>
          <a:p>
            <a:pPr>
              <a:defRPr sz="950"/>
            </a:pPr>
            <a:r>
              <a:t>• Enforces mandatory 10.0% emergency reserve floor (50.0 kWh safety cutoff).</a:t>
            </a:r>
          </a:p>
          <a:p>
            <a:pPr>
              <a:defRPr sz="950"/>
            </a:pPr>
            <a:r>
              <a:t>• Real-time energy flow telemetry tracking (kW power flow and stored kWh).</a:t>
            </a:r>
          </a:p>
        </p:txBody>
      </p:sp>
      <p:sp>
        <p:nvSpPr>
          <p:cNvPr id="8" name="Rounded Rectangle 7"/>
          <p:cNvSpPr/>
          <p:nvPr/>
        </p:nvSpPr>
        <p:spPr>
          <a:xfrm>
            <a:off x="6217920" y="3840480"/>
            <a:ext cx="5120640"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defRPr sz="1300" b="1">
                <a:solidFill>
                  <a:srgbClr val="002855"/>
                </a:solidFill>
              </a:defRPr>
            </a:pPr>
            <a:r>
              <a:t>Full-Stack Operator Cockpit &amp; AI Advisory</a:t>
            </a:r>
          </a:p>
          <a:p>
            <a:pPr>
              <a:defRPr sz="900" i="1">
                <a:solidFill>
                  <a:srgbClr val="64748B"/>
                </a:solidFill>
              </a:defRPr>
            </a:pPr>
            <a:r>
              <a:t>Zoho Catalyst AppSail Deployment</a:t>
            </a:r>
          </a:p>
          <a:p>
            <a:pPr>
              <a:defRPr sz="950"/>
            </a:pPr>
            <a:r>
              <a:t>• 7-tab high-density industrial dashboard: Overview, Manual Probe, CSV Batch, Analytics, Control, Advisory, Reports.</a:t>
            </a:r>
          </a:p>
          <a:p>
            <a:pPr>
              <a:defRPr sz="950"/>
            </a:pPr>
            <a:r>
              <a:t>• Instant AI strategic dispatch assessments with shift action checklists.</a:t>
            </a:r>
          </a:p>
          <a:p>
            <a:pPr>
              <a:defRPr sz="950"/>
            </a:pPr>
            <a:r>
              <a:t>• Dual-mode export: Full audit CSV download &amp; official publication-grade PDF reports.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5912" cy="36576"/>
          </a:xfrm>
          <a:prstGeom prst="rect">
            <a:avLst/>
          </a:prstGeom>
          <a:solidFill>
            <a:srgbClr val="002855"/>
          </a:solidFill>
          <a:ln>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5912" cy="274320"/>
          </a:xfrm>
          <a:prstGeom prst="rect">
            <a:avLst/>
          </a:prstGeom>
          <a:noFill/>
        </p:spPr>
        <p:txBody>
          <a:bodyPr wrap="square">
            <a:spAutoFit/>
          </a:bodyPr>
          <a:lstStyle/>
          <a:p>
            <a:pPr>
              <a:defRPr sz="950" b="1">
                <a:solidFill>
                  <a:srgbClr val="0D9488"/>
                </a:solidFill>
              </a:defRPr>
            </a:pPr>
            <a:r>
              <a:t>03 / REQUIREMENTS COMPLIANCE</a:t>
            </a:r>
          </a:p>
        </p:txBody>
      </p:sp>
      <p:sp>
        <p:nvSpPr>
          <p:cNvPr id="4" name="TextBox 3"/>
          <p:cNvSpPr txBox="1"/>
          <p:nvPr/>
        </p:nvSpPr>
        <p:spPr>
          <a:xfrm>
            <a:off x="731520" y="658368"/>
            <a:ext cx="10725912" cy="548640"/>
          </a:xfrm>
          <a:prstGeom prst="rect">
            <a:avLst/>
          </a:prstGeom>
          <a:noFill/>
        </p:spPr>
        <p:txBody>
          <a:bodyPr wrap="square">
            <a:spAutoFit/>
          </a:bodyPr>
          <a:lstStyle/>
          <a:p>
            <a:pPr>
              <a:defRPr sz="2200" b="1">
                <a:solidFill>
                  <a:srgbClr val="002855"/>
                </a:solidFill>
              </a:defRPr>
            </a:pPr>
            <a:r>
              <a:t>Objectives &amp; Core Implemented Features Matrix</a:t>
            </a:r>
          </a:p>
        </p:txBody>
      </p:sp>
      <p:graphicFrame>
        <p:nvGraphicFramePr>
          <p:cNvPr id="5" name="Table 4"/>
          <p:cNvGraphicFramePr>
            <a:graphicFrameLocks noGrp="1"/>
          </p:cNvGraphicFramePr>
          <p:nvPr/>
        </p:nvGraphicFramePr>
        <p:xfrm>
          <a:off x="731520" y="1463040"/>
          <a:ext cx="10607040" cy="4389120"/>
        </p:xfrm>
        <a:graphic>
          <a:graphicData uri="http://schemas.openxmlformats.org/drawingml/2006/table">
            <a:tbl>
              <a:tblPr firstRow="1" bandRow="1">
                <a:tableStyleId>{5C22544A-7EE6-4342-B048-85BDC9FD1C3A}</a:tableStyleId>
              </a:tblPr>
              <a:tblGrid>
                <a:gridCol w="2377440"/>
                <a:gridCol w="3291840"/>
                <a:gridCol w="3657600"/>
                <a:gridCol w="1280160"/>
              </a:tblGrid>
              <a:tr h="731520">
                <a:tc>
                  <a:txBody>
                    <a:bodyPr/>
                    <a:lstStyle/>
                    <a:p>
                      <a:pPr>
                        <a:defRPr b="1" sz="1050">
                          <a:solidFill>
                            <a:srgbClr val="FFFFFF"/>
                          </a:solidFill>
                        </a:defRPr>
                      </a:pPr>
                      <a:r>
                        <a:t>Feature Category</a:t>
                      </a:r>
                    </a:p>
                  </a:txBody>
                  <a:tcPr>
                    <a:solidFill>
                      <a:srgbClr val="002855"/>
                    </a:solidFill>
                  </a:tcPr>
                </a:tc>
                <a:tc>
                  <a:txBody>
                    <a:bodyPr/>
                    <a:lstStyle/>
                    <a:p>
                      <a:pPr>
                        <a:defRPr b="1" sz="1050">
                          <a:solidFill>
                            <a:srgbClr val="FFFFFF"/>
                          </a:solidFill>
                        </a:defRPr>
                      </a:pPr>
                      <a:r>
                        <a:t>Problem Statement Rule</a:t>
                      </a:r>
                    </a:p>
                  </a:txBody>
                  <a:tcPr>
                    <a:solidFill>
                      <a:srgbClr val="002855"/>
                    </a:solidFill>
                  </a:tcPr>
                </a:tc>
                <a:tc>
                  <a:txBody>
                    <a:bodyPr/>
                    <a:lstStyle/>
                    <a:p>
                      <a:pPr>
                        <a:defRPr b="1" sz="1050">
                          <a:solidFill>
                            <a:srgbClr val="FFFFFF"/>
                          </a:solidFill>
                        </a:defRPr>
                      </a:pPr>
                      <a:r>
                        <a:t>Implementation in Engine</a:t>
                      </a:r>
                    </a:p>
                  </a:txBody>
                  <a:tcPr>
                    <a:solidFill>
                      <a:srgbClr val="002855"/>
                    </a:solidFill>
                  </a:tcPr>
                </a:tc>
                <a:tc>
                  <a:txBody>
                    <a:bodyPr/>
                    <a:lstStyle/>
                    <a:p>
                      <a:pPr>
                        <a:defRPr b="1" sz="1050">
                          <a:solidFill>
                            <a:srgbClr val="FFFFFF"/>
                          </a:solidFill>
                        </a:defRPr>
                      </a:pPr>
                      <a:r>
                        <a:t>Status</a:t>
                      </a:r>
                    </a:p>
                  </a:txBody>
                  <a:tcPr>
                    <a:solidFill>
                      <a:srgbClr val="002855"/>
                    </a:solidFill>
                  </a:tcPr>
                </a:tc>
              </a:tr>
              <a:tr h="731520">
                <a:tc>
                  <a:txBody>
                    <a:bodyPr/>
                    <a:lstStyle/>
                    <a:p>
                      <a:pPr>
                        <a:defRPr sz="950" b="1">
                          <a:solidFill>
                            <a:srgbClr val="002855"/>
                          </a:solidFill>
                        </a:defRPr>
                      </a:pPr>
                      <a:r>
                        <a:t>Demand Forecasting</a:t>
                      </a:r>
                    </a:p>
                  </a:txBody>
                  <a:tcPr>
                    <a:solidFill>
                      <a:srgbClr val="FFFFFF"/>
                    </a:solidFill>
                  </a:tcPr>
                </a:tc>
                <a:tc>
                  <a:txBody>
                    <a:bodyPr/>
                    <a:lstStyle/>
                    <a:p>
                      <a:pPr>
                        <a:defRPr sz="950"/>
                      </a:pPr>
                      <a:r>
                        <a:t>24-hour ahead hourly demand prediction based on weather telemetry</a:t>
                      </a:r>
                    </a:p>
                  </a:txBody>
                  <a:tcPr>
                    <a:solidFill>
                      <a:srgbClr val="FFFFFF"/>
                    </a:solidFill>
                  </a:tcPr>
                </a:tc>
                <a:tc>
                  <a:txBody>
                    <a:bodyPr/>
                    <a:lstStyle/>
                    <a:p>
                      <a:pPr>
                        <a:defRPr sz="950"/>
                      </a:pPr>
                      <a:r>
                        <a:t>QuickML published endpoint + GBR model; inputs temp, humidity, solar</a:t>
                      </a:r>
                    </a:p>
                  </a:txBody>
                  <a:tcPr>
                    <a:solidFill>
                      <a:srgbClr val="FFFFFF"/>
                    </a:solidFill>
                  </a:tcPr>
                </a:tc>
                <a:tc>
                  <a:txBody>
                    <a:bodyPr/>
                    <a:lstStyle/>
                    <a:p>
                      <a:pPr>
                        <a:defRPr sz="950" b="1">
                          <a:solidFill>
                            <a:srgbClr val="10B981"/>
                          </a:solidFill>
                        </a:defRPr>
                      </a:pPr>
                      <a:r>
                        <a:t>VERIFIED</a:t>
                      </a:r>
                    </a:p>
                  </a:txBody>
                  <a:tcPr>
                    <a:solidFill>
                      <a:srgbClr val="FFFFFF"/>
                    </a:solidFill>
                  </a:tcPr>
                </a:tc>
              </a:tr>
              <a:tr h="731520">
                <a:tc>
                  <a:txBody>
                    <a:bodyPr/>
                    <a:lstStyle/>
                    <a:p>
                      <a:pPr>
                        <a:defRPr sz="950" b="1">
                          <a:solidFill>
                            <a:srgbClr val="002855"/>
                          </a:solidFill>
                        </a:defRPr>
                      </a:pPr>
                      <a:r>
                        <a:t>Grid Switching Logic</a:t>
                      </a:r>
                    </a:p>
                  </a:txBody>
                  <a:tcPr>
                    <a:solidFill>
                      <a:srgbClr val="F1F5F9"/>
                    </a:solidFill>
                  </a:tcPr>
                </a:tc>
                <a:tc>
                  <a:txBody>
                    <a:bodyPr/>
                    <a:lstStyle/>
                    <a:p>
                      <a:pPr>
                        <a:defRPr sz="950"/>
                      </a:pPr>
                      <a:r>
                        <a:t>Demand &gt; 160 kW OR Hour in [18, 22] -&gt; Renewable; Else Main Grid</a:t>
                      </a:r>
                    </a:p>
                  </a:txBody>
                  <a:tcPr>
                    <a:solidFill>
                      <a:srgbClr val="F1F5F9"/>
                    </a:solidFill>
                  </a:tcPr>
                </a:tc>
                <a:tc>
                  <a:txBody>
                    <a:bodyPr/>
                    <a:lstStyle/>
                    <a:p>
                      <a:pPr>
                        <a:defRPr sz="950"/>
                      </a:pPr>
                      <a:r>
                        <a:t>Automated controller in transition.py evaluates each hour deterministically</a:t>
                      </a:r>
                    </a:p>
                  </a:txBody>
                  <a:tcPr>
                    <a:solidFill>
                      <a:srgbClr val="F1F5F9"/>
                    </a:solidFill>
                  </a:tcPr>
                </a:tc>
                <a:tc>
                  <a:txBody>
                    <a:bodyPr/>
                    <a:lstStyle/>
                    <a:p>
                      <a:pPr>
                        <a:defRPr sz="950" b="1">
                          <a:solidFill>
                            <a:srgbClr val="10B981"/>
                          </a:solidFill>
                        </a:defRPr>
                      </a:pPr>
                      <a:r>
                        <a:t>VERIFIED</a:t>
                      </a:r>
                    </a:p>
                  </a:txBody>
                  <a:tcPr>
                    <a:solidFill>
                      <a:srgbClr val="F1F5F9"/>
                    </a:solidFill>
                  </a:tcPr>
                </a:tc>
              </a:tr>
              <a:tr h="731520">
                <a:tc>
                  <a:txBody>
                    <a:bodyPr/>
                    <a:lstStyle/>
                    <a:p>
                      <a:pPr>
                        <a:defRPr sz="950" b="1">
                          <a:solidFill>
                            <a:srgbClr val="002855"/>
                          </a:solidFill>
                        </a:defRPr>
                      </a:pPr>
                      <a:r>
                        <a:t>Critical Overload Alarms</a:t>
                      </a:r>
                    </a:p>
                  </a:txBody>
                  <a:tcPr>
                    <a:solidFill>
                      <a:srgbClr val="FFFFFF"/>
                    </a:solidFill>
                  </a:tcPr>
                </a:tc>
                <a:tc>
                  <a:txBody>
                    <a:bodyPr/>
                    <a:lstStyle/>
                    <a:p>
                      <a:pPr>
                        <a:defRPr sz="950"/>
                      </a:pPr>
                      <a:r>
                        <a:t>Demand &gt;= 200 kW must trigger critical alarm independently of mode</a:t>
                      </a:r>
                    </a:p>
                  </a:txBody>
                  <a:tcPr>
                    <a:solidFill>
                      <a:srgbClr val="FFFFFF"/>
                    </a:solidFill>
                  </a:tcPr>
                </a:tc>
                <a:tc>
                  <a:txBody>
                    <a:bodyPr/>
                    <a:lstStyle/>
                    <a:p>
                      <a:pPr>
                        <a:defRPr sz="950"/>
                      </a:pPr>
                      <a:r>
                        <a:t>High-priority alert banner &amp; timeline tags trigger at &gt;= 200 kW</a:t>
                      </a:r>
                    </a:p>
                  </a:txBody>
                  <a:tcPr>
                    <a:solidFill>
                      <a:srgbClr val="FFFFFF"/>
                    </a:solidFill>
                  </a:tcPr>
                </a:tc>
                <a:tc>
                  <a:txBody>
                    <a:bodyPr/>
                    <a:lstStyle/>
                    <a:p>
                      <a:pPr>
                        <a:defRPr sz="950" b="1">
                          <a:solidFill>
                            <a:srgbClr val="10B981"/>
                          </a:solidFill>
                        </a:defRPr>
                      </a:pPr>
                      <a:r>
                        <a:t>VERIFIED</a:t>
                      </a:r>
                    </a:p>
                  </a:txBody>
                  <a:tcPr>
                    <a:solidFill>
                      <a:srgbClr val="FFFFFF"/>
                    </a:solidFill>
                  </a:tcPr>
                </a:tc>
              </a:tr>
              <a:tr h="731520">
                <a:tc>
                  <a:txBody>
                    <a:bodyPr/>
                    <a:lstStyle/>
                    <a:p>
                      <a:pPr>
                        <a:defRPr sz="950" b="1">
                          <a:solidFill>
                            <a:srgbClr val="002855"/>
                          </a:solidFill>
                        </a:defRPr>
                      </a:pPr>
                      <a:r>
                        <a:t>Battery SOC &amp; Reserve Floor</a:t>
                      </a:r>
                    </a:p>
                  </a:txBody>
                  <a:tcPr>
                    <a:solidFill>
                      <a:srgbClr val="F1F5F9"/>
                    </a:solidFill>
                  </a:tcPr>
                </a:tc>
                <a:tc>
                  <a:txBody>
                    <a:bodyPr/>
                    <a:lstStyle/>
                    <a:p>
                      <a:pPr>
                        <a:defRPr sz="950"/>
                      </a:pPr>
                      <a:r>
                        <a:t>500 kWh capacity, 50 kW charging; strict 10% minimum safety floor</a:t>
                      </a:r>
                    </a:p>
                  </a:txBody>
                  <a:tcPr>
                    <a:solidFill>
                      <a:srgbClr val="F1F5F9"/>
                    </a:solidFill>
                  </a:tcPr>
                </a:tc>
                <a:tc>
                  <a:txBody>
                    <a:bodyPr/>
                    <a:lstStyle/>
                    <a:p>
                      <a:pPr>
                        <a:defRPr sz="950"/>
                      </a:pPr>
                      <a:r>
                        <a:t>Simulates SOC (kWh &amp; %); locks discharge at exactly 50 kWh floor</a:t>
                      </a:r>
                    </a:p>
                  </a:txBody>
                  <a:tcPr>
                    <a:solidFill>
                      <a:srgbClr val="F1F5F9"/>
                    </a:solidFill>
                  </a:tcPr>
                </a:tc>
                <a:tc>
                  <a:txBody>
                    <a:bodyPr/>
                    <a:lstStyle/>
                    <a:p>
                      <a:pPr>
                        <a:defRPr sz="950" b="1">
                          <a:solidFill>
                            <a:srgbClr val="10B981"/>
                          </a:solidFill>
                        </a:defRPr>
                      </a:pPr>
                      <a:r>
                        <a:t>VERIFIED</a:t>
                      </a:r>
                    </a:p>
                  </a:txBody>
                  <a:tcPr>
                    <a:solidFill>
                      <a:srgbClr val="F1F5F9"/>
                    </a:solidFill>
                  </a:tcPr>
                </a:tc>
              </a:tr>
              <a:tr h="731520">
                <a:tc>
                  <a:txBody>
                    <a:bodyPr/>
                    <a:lstStyle/>
                    <a:p>
                      <a:pPr>
                        <a:defRPr sz="950" b="1">
                          <a:solidFill>
                            <a:srgbClr val="002855"/>
                          </a:solidFill>
                        </a:defRPr>
                      </a:pPr>
                      <a:r>
                        <a:t>AI Strategic Advisory &amp; PDF</a:t>
                      </a:r>
                    </a:p>
                  </a:txBody>
                  <a:tcPr>
                    <a:solidFill>
                      <a:srgbClr val="FFFFFF"/>
                    </a:solidFill>
                  </a:tcPr>
                </a:tc>
                <a:tc>
                  <a:txBody>
                    <a:bodyPr/>
                    <a:lstStyle/>
                    <a:p>
                      <a:pPr>
                        <a:defRPr sz="950"/>
                      </a:pPr>
                      <a:r>
                        <a:t>Decision-support advisory for operators with export options</a:t>
                      </a:r>
                    </a:p>
                  </a:txBody>
                  <a:tcPr>
                    <a:solidFill>
                      <a:srgbClr val="FFFFFF"/>
                    </a:solidFill>
                  </a:tcPr>
                </a:tc>
                <a:tc>
                  <a:txBody>
                    <a:bodyPr/>
                    <a:lstStyle/>
                    <a:p>
                      <a:pPr>
                        <a:defRPr sz="950"/>
                      </a:pPr>
                      <a:r>
                        <a:t>Sub-50ms autonomous reasoning engine + one-click PDF &amp; CSV download</a:t>
                      </a:r>
                    </a:p>
                  </a:txBody>
                  <a:tcPr>
                    <a:solidFill>
                      <a:srgbClr val="FFFFFF"/>
                    </a:solidFill>
                  </a:tcPr>
                </a:tc>
                <a:tc>
                  <a:txBody>
                    <a:bodyPr/>
                    <a:lstStyle/>
                    <a:p>
                      <a:pPr>
                        <a:defRPr sz="950" b="1">
                          <a:solidFill>
                            <a:srgbClr val="10B981"/>
                          </a:solidFill>
                        </a:defRPr>
                      </a:pPr>
                      <a:r>
                        <a:t>VERIFIED</a:t>
                      </a:r>
                    </a:p>
                  </a:txBody>
                  <a:tcP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5912" cy="36576"/>
          </a:xfrm>
          <a:prstGeom prst="rect">
            <a:avLst/>
          </a:prstGeom>
          <a:solidFill>
            <a:srgbClr val="002855"/>
          </a:solidFill>
          <a:ln>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5912" cy="274320"/>
          </a:xfrm>
          <a:prstGeom prst="rect">
            <a:avLst/>
          </a:prstGeom>
          <a:noFill/>
        </p:spPr>
        <p:txBody>
          <a:bodyPr wrap="square">
            <a:spAutoFit/>
          </a:bodyPr>
          <a:lstStyle/>
          <a:p>
            <a:pPr>
              <a:defRPr sz="950" b="1">
                <a:solidFill>
                  <a:srgbClr val="0D9488"/>
                </a:solidFill>
              </a:defRPr>
            </a:pPr>
            <a:r>
              <a:t>04 / TECHNICAL ARCHITECTURE</a:t>
            </a:r>
          </a:p>
        </p:txBody>
      </p:sp>
      <p:sp>
        <p:nvSpPr>
          <p:cNvPr id="4" name="TextBox 3"/>
          <p:cNvSpPr txBox="1"/>
          <p:nvPr/>
        </p:nvSpPr>
        <p:spPr>
          <a:xfrm>
            <a:off x="731520" y="658368"/>
            <a:ext cx="10725912" cy="548640"/>
          </a:xfrm>
          <a:prstGeom prst="rect">
            <a:avLst/>
          </a:prstGeom>
          <a:noFill/>
        </p:spPr>
        <p:txBody>
          <a:bodyPr wrap="square">
            <a:spAutoFit/>
          </a:bodyPr>
          <a:lstStyle/>
          <a:p>
            <a:pPr>
              <a:defRPr sz="2200" b="1">
                <a:solidFill>
                  <a:srgbClr val="002855"/>
                </a:solidFill>
              </a:defRPr>
            </a:pPr>
            <a:r>
              <a:t>End-to-End System Architecture on Zoho Catalyst</a:t>
            </a:r>
          </a:p>
        </p:txBody>
      </p:sp>
      <p:sp>
        <p:nvSpPr>
          <p:cNvPr id="5" name="Rounded Rectangle 4"/>
          <p:cNvSpPr/>
          <p:nvPr/>
        </p:nvSpPr>
        <p:spPr>
          <a:xfrm>
            <a:off x="731520" y="1371600"/>
            <a:ext cx="246888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defRPr sz="1300" b="1">
                <a:solidFill>
                  <a:srgbClr val="002855"/>
                </a:solidFill>
              </a:defRPr>
            </a:pPr>
            <a:r>
              <a:t>1. Telemetry Ingestion</a:t>
            </a:r>
          </a:p>
          <a:p>
            <a:pPr>
              <a:defRPr sz="900" i="1">
                <a:solidFill>
                  <a:srgbClr val="64748B"/>
                </a:solidFill>
              </a:defRPr>
            </a:pPr>
            <a:r>
              <a:t>Input Interface Layer</a:t>
            </a:r>
          </a:p>
          <a:p>
            <a:pPr>
              <a:defRPr sz="900"/>
            </a:pPr>
            <a:r>
              <a:t>• Manual Sensor Probe: Direct simulation of ambient temp, humidity, solar irradiance.</a:t>
            </a:r>
          </a:p>
          <a:p>
            <a:pPr>
              <a:defRPr sz="900"/>
            </a:pPr>
            <a:r>
              <a:t>• CSV Batch Upload: Drag-and-drop 24h+ hourly telemetry files with column validation.</a:t>
            </a:r>
          </a:p>
          <a:p>
            <a:pPr>
              <a:defRPr sz="900"/>
            </a:pPr>
            <a:r>
              <a:t>• Clean Data Pipeline: Forward-fill / back-fill handling for missing values.</a:t>
            </a:r>
          </a:p>
        </p:txBody>
      </p:sp>
      <p:sp>
        <p:nvSpPr>
          <p:cNvPr id="6" name="Rounded Rectangle 5"/>
          <p:cNvSpPr/>
          <p:nvPr/>
        </p:nvSpPr>
        <p:spPr>
          <a:xfrm>
            <a:off x="3383280" y="1371600"/>
            <a:ext cx="246888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defRPr sz="1300" b="1">
                <a:solidFill>
                  <a:srgbClr val="002855"/>
                </a:solidFill>
              </a:defRPr>
            </a:pPr>
            <a:r>
              <a:t>2. Zoho Catalyst QuickML</a:t>
            </a:r>
          </a:p>
          <a:p>
            <a:pPr>
              <a:defRPr sz="900" i="1">
                <a:solidFill>
                  <a:srgbClr val="64748B"/>
                </a:solidFill>
              </a:defRPr>
            </a:pPr>
            <a:r>
              <a:t>AI Forecasting Engine</a:t>
            </a:r>
          </a:p>
          <a:p>
            <a:pPr>
              <a:defRPr sz="900"/>
            </a:pPr>
            <a:r>
              <a:t>• Published Catalyst QuickML Endpoint on Zoho cloud infrastructure.</a:t>
            </a:r>
          </a:p>
          <a:p>
            <a:pPr>
              <a:defRPr sz="900"/>
            </a:pPr>
            <a:r>
              <a:t>• Feature Engineering: 14 engineered variables (cyclical sin/cos, peak flags).</a:t>
            </a:r>
          </a:p>
          <a:p>
            <a:pPr>
              <a:defRPr sz="900"/>
            </a:pPr>
            <a:r>
              <a:t>• Sub-50ms Inference Contract: returns predicted demand array in kW.</a:t>
            </a:r>
          </a:p>
          <a:p>
            <a:pPr>
              <a:defRPr sz="900"/>
            </a:pPr>
            <a:r>
              <a:t>• High-Accuracy Fallback: Trained GradientBoostingRegressor (CV: 10.03 kW).</a:t>
            </a:r>
          </a:p>
        </p:txBody>
      </p:sp>
      <p:sp>
        <p:nvSpPr>
          <p:cNvPr id="7" name="Rounded Rectangle 6"/>
          <p:cNvSpPr/>
          <p:nvPr/>
        </p:nvSpPr>
        <p:spPr>
          <a:xfrm>
            <a:off x="6035040" y="1371600"/>
            <a:ext cx="246888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defRPr sz="1300" b="1">
                <a:solidFill>
                  <a:srgbClr val="002855"/>
                </a:solidFill>
              </a:defRPr>
            </a:pPr>
            <a:r>
              <a:t>3. Transition Controller</a:t>
            </a:r>
          </a:p>
          <a:p>
            <a:pPr>
              <a:defRPr sz="900" i="1">
                <a:solidFill>
                  <a:srgbClr val="64748B"/>
                </a:solidFill>
              </a:defRPr>
            </a:pPr>
            <a:r>
              <a:t>Grid &amp; Storage Logic</a:t>
            </a:r>
          </a:p>
          <a:p>
            <a:pPr>
              <a:defRPr sz="900"/>
            </a:pPr>
            <a:r>
              <a:t>• Automated Mode Routing: Evaluates 160 kW and 18:00–22:00 thresholds.</a:t>
            </a:r>
          </a:p>
          <a:p>
            <a:pPr>
              <a:defRPr sz="900"/>
            </a:pPr>
            <a:r>
              <a:t>• Independent Overload Guard: Triggers safety alert at &gt;= 200 kW.</a:t>
            </a:r>
          </a:p>
          <a:p>
            <a:pPr>
              <a:defRPr sz="900"/>
            </a:pPr>
            <a:r>
              <a:t>• Battery Physics Simulator: 500 kWh, 92% efficiency, 10% cutoff floor.</a:t>
            </a:r>
          </a:p>
          <a:p>
            <a:pPr>
              <a:defRPr sz="900"/>
            </a:pPr>
            <a:r>
              <a:t>• 50 kW Grid Charge synchronization.</a:t>
            </a:r>
          </a:p>
        </p:txBody>
      </p:sp>
      <p:sp>
        <p:nvSpPr>
          <p:cNvPr id="8" name="Rounded Rectangle 7"/>
          <p:cNvSpPr/>
          <p:nvPr/>
        </p:nvSpPr>
        <p:spPr>
          <a:xfrm>
            <a:off x="8686800" y="1371600"/>
            <a:ext cx="246888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defRPr sz="1300" b="1">
                <a:solidFill>
                  <a:srgbClr val="002855"/>
                </a:solidFill>
              </a:defRPr>
            </a:pPr>
            <a:r>
              <a:t>4. Catalyst AppSail Cockpit</a:t>
            </a:r>
          </a:p>
          <a:p>
            <a:pPr>
              <a:defRPr sz="900" i="1">
                <a:solidFill>
                  <a:srgbClr val="64748B"/>
                </a:solidFill>
              </a:defRPr>
            </a:pPr>
            <a:r>
              <a:t>User Presentation Layer</a:t>
            </a:r>
          </a:p>
          <a:p>
            <a:pPr>
              <a:defRPr sz="900"/>
            </a:pPr>
            <a:r>
              <a:t>• Hosted on Zoho Catalyst AppSail (Python 3.11 managed runtime).</a:t>
            </a:r>
          </a:p>
          <a:p>
            <a:pPr>
              <a:defRPr sz="900"/>
            </a:pPr>
            <a:r>
              <a:t>• React 19 SPA with Chart.js, SVG demand curves, and timeline cards.</a:t>
            </a:r>
          </a:p>
          <a:p>
            <a:pPr>
              <a:defRPr sz="900"/>
            </a:pPr>
            <a:r>
              <a:t>• Autonomous AI Advisory with real-time PDF generation.</a:t>
            </a:r>
          </a:p>
          <a:p>
            <a:pPr>
              <a:defRPr sz="900"/>
            </a:pPr>
            <a:r>
              <a:t>• Comprehensive CSV report download.</a:t>
            </a:r>
          </a:p>
        </p:txBody>
      </p:sp>
      <p:sp>
        <p:nvSpPr>
          <p:cNvPr id="9" name="Rectangle 8"/>
          <p:cNvSpPr/>
          <p:nvPr/>
        </p:nvSpPr>
        <p:spPr>
          <a:xfrm>
            <a:off x="731520" y="5669280"/>
            <a:ext cx="10424160" cy="640080"/>
          </a:xfrm>
          <a:prstGeom prst="rect">
            <a:avLst/>
          </a:prstGeom>
          <a:solidFill>
            <a:srgbClr val="EEF2FF"/>
          </a:solidFill>
          <a:ln>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2855"/>
                </a:solidFill>
              </a:defRPr>
            </a:pPr>
            <a:r>
              <a:t>ZOHO CATALYST ECOSYSTEM INTEGRATION: Leverages Catalyst QuickML for model hosting &amp; inference, and Catalyst AppSail for production containerized deployment of the full-stack engine.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5912" cy="36576"/>
          </a:xfrm>
          <a:prstGeom prst="rect">
            <a:avLst/>
          </a:prstGeom>
          <a:solidFill>
            <a:srgbClr val="002855"/>
          </a:solidFill>
          <a:ln>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5912" cy="274320"/>
          </a:xfrm>
          <a:prstGeom prst="rect">
            <a:avLst/>
          </a:prstGeom>
          <a:noFill/>
        </p:spPr>
        <p:txBody>
          <a:bodyPr wrap="square">
            <a:spAutoFit/>
          </a:bodyPr>
          <a:lstStyle/>
          <a:p>
            <a:pPr>
              <a:defRPr sz="950" b="1">
                <a:solidFill>
                  <a:srgbClr val="0D9488"/>
                </a:solidFill>
              </a:defRPr>
            </a:pPr>
            <a:r>
              <a:t>05 / TECHNOLOGY STACK</a:t>
            </a:r>
          </a:p>
        </p:txBody>
      </p:sp>
      <p:sp>
        <p:nvSpPr>
          <p:cNvPr id="4" name="TextBox 3"/>
          <p:cNvSpPr txBox="1"/>
          <p:nvPr/>
        </p:nvSpPr>
        <p:spPr>
          <a:xfrm>
            <a:off x="731520" y="658368"/>
            <a:ext cx="10725912" cy="548640"/>
          </a:xfrm>
          <a:prstGeom prst="rect">
            <a:avLst/>
          </a:prstGeom>
          <a:noFill/>
        </p:spPr>
        <p:txBody>
          <a:bodyPr wrap="square">
            <a:spAutoFit/>
          </a:bodyPr>
          <a:lstStyle/>
          <a:p>
            <a:pPr>
              <a:defRPr sz="2200" b="1">
                <a:solidFill>
                  <a:srgbClr val="002855"/>
                </a:solidFill>
              </a:defRPr>
            </a:pPr>
            <a:r>
              <a:t>Technologies &amp; Production Tooling Stack</a:t>
            </a:r>
          </a:p>
        </p:txBody>
      </p:sp>
      <p:sp>
        <p:nvSpPr>
          <p:cNvPr id="5" name="Rounded Rectangle 4"/>
          <p:cNvSpPr/>
          <p:nvPr/>
        </p:nvSpPr>
        <p:spPr>
          <a:xfrm>
            <a:off x="731520" y="1371600"/>
            <a:ext cx="32918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defRPr sz="1300" b="1">
                <a:solidFill>
                  <a:srgbClr val="002855"/>
                </a:solidFill>
              </a:defRPr>
            </a:pPr>
            <a:r>
              <a:t>Cloud &amp; AI Infrastructure</a:t>
            </a:r>
          </a:p>
          <a:p>
            <a:pPr>
              <a:defRPr sz="900" i="1">
                <a:solidFill>
                  <a:srgbClr val="64748B"/>
                </a:solidFill>
              </a:defRPr>
            </a:pPr>
            <a:r>
              <a:t>Zoho Catalyst Platform</a:t>
            </a:r>
          </a:p>
          <a:p>
            <a:pPr>
              <a:defRPr b="1" sz="950">
                <a:solidFill>
                  <a:srgbClr val="002855"/>
                </a:solidFill>
              </a:defRPr>
            </a:pPr>
            <a:r>
              <a:t>• Zoho Catalyst AppSail:</a:t>
            </a:r>
          </a:p>
          <a:p>
            <a:pPr>
              <a:defRPr sz="850">
                <a:solidFill>
                  <a:srgbClr val="0F172A"/>
                </a:solidFill>
              </a:defRPr>
            </a:pPr>
            <a:r>
              <a:t>  Containerized serverless hosting for Python 3.11 web applications</a:t>
            </a:r>
          </a:p>
          <a:p>
            <a:pPr>
              <a:defRPr b="1" sz="950">
                <a:solidFill>
                  <a:srgbClr val="002855"/>
                </a:solidFill>
              </a:defRPr>
            </a:pPr>
            <a:r>
              <a:t>• Zoho Catalyst QuickML:</a:t>
            </a:r>
          </a:p>
          <a:p>
            <a:pPr>
              <a:defRPr sz="850">
                <a:solidFill>
                  <a:srgbClr val="0F172A"/>
                </a:solidFill>
              </a:defRPr>
            </a:pPr>
            <a:r>
              <a:t>  AutoML pipeline for model training, versioning, and published REST inference</a:t>
            </a:r>
          </a:p>
          <a:p>
            <a:pPr>
              <a:defRPr b="1" sz="950">
                <a:solidFill>
                  <a:srgbClr val="002855"/>
                </a:solidFill>
              </a:defRPr>
            </a:pPr>
            <a:r>
              <a:t>• Catalyst CLI:</a:t>
            </a:r>
          </a:p>
          <a:p>
            <a:pPr>
              <a:defRPr sz="850">
                <a:solidFill>
                  <a:srgbClr val="0F172A"/>
                </a:solidFill>
              </a:defRPr>
            </a:pPr>
            <a:r>
              <a:t>  Streamlined deployment, build packaging, and environment variable configuration</a:t>
            </a:r>
          </a:p>
          <a:p>
            <a:pPr>
              <a:defRPr b="1" sz="950">
                <a:solidFill>
                  <a:srgbClr val="002855"/>
                </a:solidFill>
              </a:defRPr>
            </a:pPr>
            <a:r>
              <a:t>• NVIDIA NIM Pool:</a:t>
            </a:r>
          </a:p>
          <a:p>
            <a:pPr>
              <a:defRPr sz="850">
                <a:solidFill>
                  <a:srgbClr val="0F172A"/>
                </a:solidFill>
              </a:defRPr>
            </a:pPr>
            <a:r>
              <a:t>  DiffusionGemma &amp; Nemotron multi-model pool for deep language reasoning</a:t>
            </a:r>
          </a:p>
        </p:txBody>
      </p:sp>
      <p:sp>
        <p:nvSpPr>
          <p:cNvPr id="6" name="Rounded Rectangle 5"/>
          <p:cNvSpPr/>
          <p:nvPr/>
        </p:nvSpPr>
        <p:spPr>
          <a:xfrm>
            <a:off x="4297680" y="1371600"/>
            <a:ext cx="32918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defRPr sz="1300" b="1">
                <a:solidFill>
                  <a:srgbClr val="002855"/>
                </a:solidFill>
              </a:defRPr>
            </a:pPr>
            <a:r>
              <a:t>Backend &amp; Predictive Engine</a:t>
            </a:r>
          </a:p>
          <a:p>
            <a:pPr>
              <a:defRPr sz="900" i="1">
                <a:solidFill>
                  <a:srgbClr val="64748B"/>
                </a:solidFill>
              </a:defRPr>
            </a:pPr>
            <a:r>
              <a:t>Python 3.11 Scientific Stack</a:t>
            </a:r>
          </a:p>
          <a:p>
            <a:pPr>
              <a:defRPr b="1" sz="950">
                <a:solidFill>
                  <a:srgbClr val="002855"/>
                </a:solidFill>
              </a:defRPr>
            </a:pPr>
            <a:r>
              <a:t>• Flask &amp; Flask-CORS:</a:t>
            </a:r>
          </a:p>
          <a:p>
            <a:pPr>
              <a:defRPr sz="850">
                <a:solidFill>
                  <a:srgbClr val="0F172A"/>
                </a:solidFill>
              </a:defRPr>
            </a:pPr>
            <a:r>
              <a:t>  Lightweight, high-throughput REST API serving predictions and SPA assets</a:t>
            </a:r>
          </a:p>
          <a:p>
            <a:pPr>
              <a:defRPr b="1" sz="950">
                <a:solidFill>
                  <a:srgbClr val="002855"/>
                </a:solidFill>
              </a:defRPr>
            </a:pPr>
            <a:r>
              <a:t>• Scikit-Learn:</a:t>
            </a:r>
          </a:p>
          <a:p>
            <a:pPr>
              <a:defRPr sz="850">
                <a:solidFill>
                  <a:srgbClr val="0F172A"/>
                </a:solidFill>
              </a:defRPr>
            </a:pPr>
            <a:r>
              <a:t>  GradientBoostingRegressor (150 estimators, max depth 4, 14 engineered features)</a:t>
            </a:r>
          </a:p>
          <a:p>
            <a:pPr>
              <a:defRPr b="1" sz="950">
                <a:solidFill>
                  <a:srgbClr val="002855"/>
                </a:solidFill>
              </a:defRPr>
            </a:pPr>
            <a:r>
              <a:t>• Pandas &amp; NumPy:</a:t>
            </a:r>
          </a:p>
          <a:p>
            <a:pPr>
              <a:defRPr sz="850">
                <a:solidFill>
                  <a:srgbClr val="0F172A"/>
                </a:solidFill>
              </a:defRPr>
            </a:pPr>
            <a:r>
              <a:t>  High-speed tabular vectorization, data cleaning, and battery time-series simulation</a:t>
            </a:r>
          </a:p>
          <a:p>
            <a:pPr>
              <a:defRPr b="1" sz="950">
                <a:solidFill>
                  <a:srgbClr val="002855"/>
                </a:solidFill>
              </a:defRPr>
            </a:pPr>
            <a:r>
              <a:t>• Joblib:</a:t>
            </a:r>
          </a:p>
          <a:p>
            <a:pPr>
              <a:defRPr sz="850">
                <a:solidFill>
                  <a:srgbClr val="0F172A"/>
                </a:solidFill>
              </a:defRPr>
            </a:pPr>
            <a:r>
              <a:t>  Model serialization and zero-latency local caching for sub-50ms response</a:t>
            </a:r>
          </a:p>
        </p:txBody>
      </p:sp>
      <p:sp>
        <p:nvSpPr>
          <p:cNvPr id="7" name="Rounded Rectangle 6"/>
          <p:cNvSpPr/>
          <p:nvPr/>
        </p:nvSpPr>
        <p:spPr>
          <a:xfrm>
            <a:off x="7863840" y="1371600"/>
            <a:ext cx="32918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defRPr sz="1300" b="1">
                <a:solidFill>
                  <a:srgbClr val="002855"/>
                </a:solidFill>
              </a:defRPr>
            </a:pPr>
            <a:r>
              <a:t>Frontend &amp; Presentation Layer</a:t>
            </a:r>
          </a:p>
          <a:p>
            <a:pPr>
              <a:defRPr sz="900" i="1">
                <a:solidFill>
                  <a:srgbClr val="64748B"/>
                </a:solidFill>
              </a:defRPr>
            </a:pPr>
            <a:r>
              <a:t>Modern Web Technologies</a:t>
            </a:r>
          </a:p>
          <a:p>
            <a:pPr>
              <a:defRPr b="1" sz="950">
                <a:solidFill>
                  <a:srgbClr val="002855"/>
                </a:solidFill>
              </a:defRPr>
            </a:pPr>
            <a:r>
              <a:t>• React 19 &amp; Vite 8:</a:t>
            </a:r>
          </a:p>
          <a:p>
            <a:pPr>
              <a:defRPr sz="850">
                <a:solidFill>
                  <a:srgbClr val="0F172A"/>
                </a:solidFill>
              </a:defRPr>
            </a:pPr>
            <a:r>
              <a:t>  High-performance reactive user interface with sub-second HMR and production bundle</a:t>
            </a:r>
          </a:p>
          <a:p>
            <a:pPr>
              <a:defRPr b="1" sz="950">
                <a:solidFill>
                  <a:srgbClr val="002855"/>
                </a:solidFill>
              </a:defRPr>
            </a:pPr>
            <a:r>
              <a:t>• Chart.js &amp; Recharts:</a:t>
            </a:r>
          </a:p>
          <a:p>
            <a:pPr>
              <a:defRPr sz="850">
                <a:solidFill>
                  <a:srgbClr val="0F172A"/>
                </a:solidFill>
              </a:defRPr>
            </a:pPr>
            <a:r>
              <a:t>  Custom responsive SVG demand curves, threshold lines, and battery sparklines</a:t>
            </a:r>
          </a:p>
          <a:p>
            <a:pPr>
              <a:defRPr b="1" sz="950">
                <a:solidFill>
                  <a:srgbClr val="002855"/>
                </a:solidFill>
              </a:defRPr>
            </a:pPr>
            <a:r>
              <a:t>• jsPDF Client Engine:</a:t>
            </a:r>
          </a:p>
          <a:p>
            <a:pPr>
              <a:defRPr sz="850">
                <a:solidFill>
                  <a:srgbClr val="0F172A"/>
                </a:solidFill>
              </a:defRPr>
            </a:pPr>
            <a:r>
              <a:t>  Instant client-side generation of publication-grade multi-page PDF audit reports</a:t>
            </a:r>
          </a:p>
          <a:p>
            <a:pPr>
              <a:defRPr b="1" sz="950">
                <a:solidFill>
                  <a:srgbClr val="002855"/>
                </a:solidFill>
              </a:defRPr>
            </a:pPr>
            <a:r>
              <a:t>• Space Grotesk &amp; Lora:</a:t>
            </a:r>
          </a:p>
          <a:p>
            <a:pPr>
              <a:defRPr sz="850">
                <a:solidFill>
                  <a:srgbClr val="0F172A"/>
                </a:solidFill>
              </a:defRPr>
            </a:pPr>
            <a:r>
              <a:t>  Editorial-industrial typography system with dark glassmorphic styling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5912" cy="36576"/>
          </a:xfrm>
          <a:prstGeom prst="rect">
            <a:avLst/>
          </a:prstGeom>
          <a:solidFill>
            <a:srgbClr val="002855"/>
          </a:solidFill>
          <a:ln>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5912" cy="274320"/>
          </a:xfrm>
          <a:prstGeom prst="rect">
            <a:avLst/>
          </a:prstGeom>
          <a:noFill/>
        </p:spPr>
        <p:txBody>
          <a:bodyPr wrap="square">
            <a:spAutoFit/>
          </a:bodyPr>
          <a:lstStyle/>
          <a:p>
            <a:pPr>
              <a:defRPr sz="950" b="1">
                <a:solidFill>
                  <a:srgbClr val="0D9488"/>
                </a:solidFill>
              </a:defRPr>
            </a:pPr>
            <a:r>
              <a:t>06 / PREDICTIVE MODELING</a:t>
            </a:r>
          </a:p>
        </p:txBody>
      </p:sp>
      <p:sp>
        <p:nvSpPr>
          <p:cNvPr id="4" name="TextBox 3"/>
          <p:cNvSpPr txBox="1"/>
          <p:nvPr/>
        </p:nvSpPr>
        <p:spPr>
          <a:xfrm>
            <a:off x="731520" y="658368"/>
            <a:ext cx="10725912" cy="548640"/>
          </a:xfrm>
          <a:prstGeom prst="rect">
            <a:avLst/>
          </a:prstGeom>
          <a:noFill/>
        </p:spPr>
        <p:txBody>
          <a:bodyPr wrap="square">
            <a:spAutoFit/>
          </a:bodyPr>
          <a:lstStyle/>
          <a:p>
            <a:pPr>
              <a:defRPr sz="2200" b="1">
                <a:solidFill>
                  <a:srgbClr val="002855"/>
                </a:solidFill>
              </a:defRPr>
            </a:pPr>
            <a:r>
              <a:t>AI/ML Model &amp; 24-Hour Demand Forecasting</a:t>
            </a:r>
          </a:p>
        </p:txBody>
      </p:sp>
      <p:sp>
        <p:nvSpPr>
          <p:cNvPr id="5" name="Rounded Rectangle 4"/>
          <p:cNvSpPr/>
          <p:nvPr/>
        </p:nvSpPr>
        <p:spPr>
          <a:xfrm>
            <a:off x="731520" y="1371600"/>
            <a:ext cx="493776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defRPr sz="1300" b="1">
                <a:solidFill>
                  <a:srgbClr val="002855"/>
                </a:solidFill>
              </a:defRPr>
            </a:pPr>
            <a:r>
              <a:t>Feature Engineering &amp; Validation</a:t>
            </a:r>
          </a:p>
          <a:p>
            <a:pPr>
              <a:defRPr b="1" sz="1000"/>
            </a:pPr>
            <a:r>
              <a:t>14 Domain-Specific Engineered Features:</a:t>
            </a:r>
          </a:p>
          <a:p>
            <a:pPr>
              <a:defRPr sz="850"/>
            </a:pPr>
            <a:r>
              <a:t>• Cyclical Temporal: hour, hour_sin, hour_cos (captures diurnal cycle)</a:t>
            </a:r>
          </a:p>
          <a:p>
            <a:pPr>
              <a:defRPr sz="850"/>
            </a:pPr>
            <a:r>
              <a:t>• Peak Windows: is_peak_hour (18–22h flag), is_morning_ramp (6–9h flag)</a:t>
            </a:r>
          </a:p>
          <a:p>
            <a:pPr>
              <a:defRPr sz="850"/>
            </a:pPr>
            <a:r>
              <a:t>• Calendar: month, day_of_week, is_weekend (weekday vs weekend loads)</a:t>
            </a:r>
          </a:p>
          <a:p>
            <a:pPr>
              <a:defRPr sz="850"/>
            </a:pPr>
            <a:r>
              <a:t>• Interactions: cooling_load (max(0, temp-24)*8.5), solar_temp_ratio</a:t>
            </a:r>
          </a:p>
          <a:p>
            <a:pPr>
              <a:defRPr sz="850"/>
            </a:pPr>
            <a:r>
              <a:t>• Raw Meteorological: ambient_temp_c, humidity_pct, solar_irradiance_wm2</a:t>
            </a:r>
          </a:p>
          <a:p>
            <a:br/>
            <a:pPr>
              <a:defRPr b="1" sz="1000"/>
            </a:pPr>
            <a:r>
              <a:t>Rigorous Cross-Validation Performance:</a:t>
            </a:r>
          </a:p>
          <a:p>
            <a:pPr>
              <a:defRPr sz="900"/>
            </a:pPr>
            <a:r>
              <a:t>• 5-Fold Cross-Validation RMSE: 10.03 kW (± 0.42 kW)</a:t>
            </a:r>
          </a:p>
          <a:p>
            <a:pPr>
              <a:defRPr sz="900"/>
            </a:pPr>
            <a:r>
              <a:t>• Training Dataset: 4,000 hourly telemetry rows from official starter kit</a:t>
            </a:r>
          </a:p>
          <a:p>
            <a:pPr>
              <a:defRPr sz="900"/>
            </a:pPr>
            <a:r>
              <a:t>• Inference Latency: &lt; 25 ms for full 24-hour horizon prediction</a:t>
            </a:r>
          </a:p>
          <a:p>
            <a:pPr>
              <a:defRPr b="1" sz="950">
                <a:solidFill>
                  <a:srgbClr val="10B981"/>
                </a:solidFill>
              </a:defRPr>
            </a:pPr>
            <a:r>
              <a:t>• Pre-Submission Self-Tester: test_eval.py verified with SUCCESS</a:t>
            </a:r>
          </a:p>
        </p:txBody>
      </p:sp>
      <p:pic>
        <p:nvPicPr>
          <p:cNvPr id="6" name="Picture 5" descr="fig_feature_importances.png"/>
          <p:cNvPicPr>
            <a:picLocks noChangeAspect="1"/>
          </p:cNvPicPr>
          <p:nvPr/>
        </p:nvPicPr>
        <p:blipFill>
          <a:blip r:embed="rId2"/>
          <a:stretch>
            <a:fillRect/>
          </a:stretch>
        </p:blipFill>
        <p:spPr>
          <a:xfrm>
            <a:off x="5943600" y="1371600"/>
            <a:ext cx="5486400" cy="48463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5912" cy="36576"/>
          </a:xfrm>
          <a:prstGeom prst="rect">
            <a:avLst/>
          </a:prstGeom>
          <a:solidFill>
            <a:srgbClr val="002855"/>
          </a:solidFill>
          <a:ln>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5912" cy="274320"/>
          </a:xfrm>
          <a:prstGeom prst="rect">
            <a:avLst/>
          </a:prstGeom>
          <a:noFill/>
        </p:spPr>
        <p:txBody>
          <a:bodyPr wrap="square">
            <a:spAutoFit/>
          </a:bodyPr>
          <a:lstStyle/>
          <a:p>
            <a:pPr>
              <a:defRPr sz="950" b="1">
                <a:solidFill>
                  <a:srgbClr val="0D9488"/>
                </a:solidFill>
              </a:defRPr>
            </a:pPr>
            <a:r>
              <a:t>07 / TRANSITION CONTROLLER</a:t>
            </a:r>
          </a:p>
        </p:txBody>
      </p:sp>
      <p:sp>
        <p:nvSpPr>
          <p:cNvPr id="4" name="TextBox 3"/>
          <p:cNvSpPr txBox="1"/>
          <p:nvPr/>
        </p:nvSpPr>
        <p:spPr>
          <a:xfrm>
            <a:off x="731520" y="658368"/>
            <a:ext cx="10725912" cy="548640"/>
          </a:xfrm>
          <a:prstGeom prst="rect">
            <a:avLst/>
          </a:prstGeom>
          <a:noFill/>
        </p:spPr>
        <p:txBody>
          <a:bodyPr wrap="square">
            <a:spAutoFit/>
          </a:bodyPr>
          <a:lstStyle/>
          <a:p>
            <a:pPr>
              <a:defRPr sz="2200" b="1">
                <a:solidFill>
                  <a:srgbClr val="002855"/>
                </a:solidFill>
              </a:defRPr>
            </a:pPr>
            <a:r>
              <a:t>Grid Switching Logic &amp; Critical Overload Protection</a:t>
            </a:r>
          </a:p>
        </p:txBody>
      </p:sp>
      <p:sp>
        <p:nvSpPr>
          <p:cNvPr id="5" name="Rounded Rectangle 4"/>
          <p:cNvSpPr/>
          <p:nvPr/>
        </p:nvSpPr>
        <p:spPr>
          <a:xfrm>
            <a:off x="731520" y="1371600"/>
            <a:ext cx="493776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defRPr sz="1300" b="1">
                <a:solidFill>
                  <a:srgbClr val="002855"/>
                </a:solidFill>
              </a:defRPr>
            </a:pPr>
            <a:r>
              <a:t>Deterministic Switching Logic</a:t>
            </a:r>
          </a:p>
          <a:p>
            <a:pPr>
              <a:defRPr b="1" sz="950">
                <a:solidFill>
                  <a:srgbClr val="10B981"/>
                </a:solidFill>
              </a:defRPr>
            </a:pPr>
            <a:r>
              <a:t>RULE 1: RENEWABLE STORAGE MODE</a:t>
            </a:r>
          </a:p>
          <a:p>
            <a:pPr>
              <a:defRPr sz="850" i="1"/>
            </a:pPr>
            <a:r>
              <a:t>Formula: Demand &gt; 160.0 kW OR Hour ∈ [18:00, 22:00]</a:t>
            </a:r>
          </a:p>
          <a:p>
            <a:pPr>
              <a:defRPr sz="800">
                <a:solidFill>
                  <a:srgbClr val="0F172A"/>
                </a:solidFill>
              </a:defRPr>
            </a:pPr>
            <a:r>
              <a:t>Battery discharges to absorb high localized demand and avoid peak utility tariff surcharges during evening hours.</a:t>
            </a:r>
          </a:p>
          <a:p>
            <a:pPr>
              <a:defRPr b="1" sz="950">
                <a:solidFill>
                  <a:srgbClr val="002855"/>
                </a:solidFill>
              </a:defRPr>
            </a:pPr>
            <a:r>
              <a:t>RULE 2: MAIN GRID BASE MODE</a:t>
            </a:r>
          </a:p>
          <a:p>
            <a:pPr>
              <a:defRPr sz="850" i="1"/>
            </a:pPr>
            <a:r>
              <a:t>Formula: Demand ≤ 160.0 kW AND Hour ∉ [18:00, 22:00]</a:t>
            </a:r>
          </a:p>
          <a:p>
            <a:pPr>
              <a:defRPr sz="800">
                <a:solidFill>
                  <a:srgbClr val="0F172A"/>
                </a:solidFill>
              </a:defRPr>
            </a:pPr>
            <a:r>
              <a:t>Main grid serves base load. Local battery recharges at 50.0 kW (92% roundtrip efficiency) during cheap overnight hours.</a:t>
            </a:r>
          </a:p>
          <a:p>
            <a:pPr>
              <a:defRPr b="1" sz="950">
                <a:solidFill>
                  <a:srgbClr val="DC2626"/>
                </a:solidFill>
              </a:defRPr>
            </a:pPr>
            <a:r>
              <a:t>RULE 3: CRITICAL OVERLOAD ALARM</a:t>
            </a:r>
          </a:p>
          <a:p>
            <a:pPr>
              <a:defRPr sz="850" i="1"/>
            </a:pPr>
            <a:r>
              <a:t>Formula: Demand ≥ 200.0 kW (Independent Alert)</a:t>
            </a:r>
          </a:p>
          <a:p>
            <a:pPr>
              <a:defRPr sz="800">
                <a:solidFill>
                  <a:srgbClr val="0F172A"/>
                </a:solidFill>
              </a:defRPr>
            </a:pPr>
            <a:r>
              <a:t>High-priority alert emitted across all views. Triggers visual crimson warnings and field engineer pre-start dispatch.</a:t>
            </a:r>
          </a:p>
          <a:p>
            <a:pPr>
              <a:defRPr b="1" sz="950">
                <a:solidFill>
                  <a:srgbClr val="D97706"/>
                </a:solidFill>
              </a:defRPr>
            </a:pPr>
            <a:r>
              <a:t>RULE 4: 10% RESERVE FLOOR LOCK</a:t>
            </a:r>
          </a:p>
          <a:p>
            <a:pPr>
              <a:defRPr sz="850" i="1"/>
            </a:pPr>
            <a:r>
              <a:t>Formula: Battery SOC ≤ 10.0% (50.0 kWh Cutoff)</a:t>
            </a:r>
          </a:p>
          <a:p>
            <a:pPr>
              <a:defRPr sz="800">
                <a:solidFill>
                  <a:srgbClr val="0F172A"/>
                </a:solidFill>
              </a:defRPr>
            </a:pPr>
            <a:r>
              <a:t>Discharge automatically suspended to prevent irreversible lithium cell degradation. Subsequent demand redirected safely to grid.</a:t>
            </a:r>
          </a:p>
        </p:txBody>
      </p:sp>
      <p:pic>
        <p:nvPicPr>
          <p:cNvPr id="6" name="Picture 5" descr="fig_demand_forecast.png"/>
          <p:cNvPicPr>
            <a:picLocks noChangeAspect="1"/>
          </p:cNvPicPr>
          <p:nvPr/>
        </p:nvPicPr>
        <p:blipFill>
          <a:blip r:embed="rId2"/>
          <a:stretch>
            <a:fillRect/>
          </a:stretch>
        </p:blipFill>
        <p:spPr>
          <a:xfrm>
            <a:off x="5943600" y="1371600"/>
            <a:ext cx="5486400" cy="48463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5912" cy="36576"/>
          </a:xfrm>
          <a:prstGeom prst="rect">
            <a:avLst/>
          </a:prstGeom>
          <a:solidFill>
            <a:srgbClr val="002855"/>
          </a:solidFill>
          <a:ln>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5912" cy="274320"/>
          </a:xfrm>
          <a:prstGeom prst="rect">
            <a:avLst/>
          </a:prstGeom>
          <a:noFill/>
        </p:spPr>
        <p:txBody>
          <a:bodyPr wrap="square">
            <a:spAutoFit/>
          </a:bodyPr>
          <a:lstStyle/>
          <a:p>
            <a:pPr>
              <a:defRPr sz="950" b="1">
                <a:solidFill>
                  <a:srgbClr val="0D9488"/>
                </a:solidFill>
              </a:defRPr>
            </a:pPr>
            <a:r>
              <a:t>08 / STORAGE SIMULATION</a:t>
            </a:r>
          </a:p>
        </p:txBody>
      </p:sp>
      <p:sp>
        <p:nvSpPr>
          <p:cNvPr id="4" name="TextBox 3"/>
          <p:cNvSpPr txBox="1"/>
          <p:nvPr/>
        </p:nvSpPr>
        <p:spPr>
          <a:xfrm>
            <a:off x="731520" y="658368"/>
            <a:ext cx="10725912" cy="548640"/>
          </a:xfrm>
          <a:prstGeom prst="rect">
            <a:avLst/>
          </a:prstGeom>
          <a:noFill/>
        </p:spPr>
        <p:txBody>
          <a:bodyPr wrap="square">
            <a:spAutoFit/>
          </a:bodyPr>
          <a:lstStyle/>
          <a:p>
            <a:pPr>
              <a:defRPr sz="2200" b="1">
                <a:solidFill>
                  <a:srgbClr val="002855"/>
                </a:solidFill>
              </a:defRPr>
            </a:pPr>
            <a:r>
              <a:t>500 kWh Battery Storage Simulation &amp; Safety Floor</a:t>
            </a:r>
          </a:p>
        </p:txBody>
      </p:sp>
      <p:pic>
        <p:nvPicPr>
          <p:cNvPr id="5" name="Picture 4" descr="fig_battery_soc.png"/>
          <p:cNvPicPr>
            <a:picLocks noChangeAspect="1"/>
          </p:cNvPicPr>
          <p:nvPr/>
        </p:nvPicPr>
        <p:blipFill>
          <a:blip r:embed="rId2"/>
          <a:stretch>
            <a:fillRect/>
          </a:stretch>
        </p:blipFill>
        <p:spPr>
          <a:xfrm>
            <a:off x="731520" y="1371600"/>
            <a:ext cx="5486400" cy="4846320"/>
          </a:xfrm>
          <a:prstGeom prst="rect">
            <a:avLst/>
          </a:prstGeom>
        </p:spPr>
      </p:pic>
      <p:sp>
        <p:nvSpPr>
          <p:cNvPr id="6" name="Rounded Rectangle 5"/>
          <p:cNvSpPr/>
          <p:nvPr/>
        </p:nvSpPr>
        <p:spPr>
          <a:xfrm>
            <a:off x="6492240" y="1371600"/>
            <a:ext cx="493776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defRPr sz="1300" b="1">
                <a:solidFill>
                  <a:srgbClr val="002855"/>
                </a:solidFill>
              </a:defRPr>
            </a:pPr>
            <a:r>
              <a:t>Storage Physical Modeling &amp; Floor Lock</a:t>
            </a:r>
          </a:p>
          <a:p>
            <a:pPr>
              <a:defRPr b="1" sz="1000"/>
            </a:pPr>
            <a:r>
              <a:t>Mathematical Formulation:</a:t>
            </a:r>
          </a:p>
          <a:p>
            <a:pPr>
              <a:defRPr sz="900"/>
            </a:pPr>
            <a:r>
              <a:t>• Capacity: 500.0 kWh (nominal rating)</a:t>
            </a:r>
          </a:p>
          <a:p>
            <a:pPr>
              <a:defRPr sz="900"/>
            </a:pPr>
            <a:r>
              <a:t>• Initial SOC: 80.0% = 400.0 kWh baseline charge</a:t>
            </a:r>
          </a:p>
          <a:p>
            <a:pPr>
              <a:defRPr sz="900"/>
            </a:pPr>
            <a:r>
              <a:t>• Round-Trip Efficiency: η = 92.0%</a:t>
            </a:r>
          </a:p>
          <a:p>
            <a:br/>
            <a:pPr>
              <a:defRPr b="1" sz="1000"/>
            </a:pPr>
            <a:r>
              <a:t>Discharge Dynamics (Renewable Mode):</a:t>
            </a:r>
          </a:p>
          <a:p>
            <a:pPr>
              <a:defRPr sz="900" i="1"/>
            </a:pPr>
            <a:r>
              <a:t>• SOC_{t+1} = max(SOC_t - Demand / η, 50.0 kWh)</a:t>
            </a:r>
          </a:p>
          <a:p>
            <a:pPr>
              <a:defRPr sz="900"/>
            </a:pPr>
            <a:r>
              <a:t>• Discharge terminates immediately when SOC reaches 10% (50.0 kWh).</a:t>
            </a:r>
          </a:p>
          <a:p>
            <a:br/>
            <a:pPr>
              <a:defRPr b="1" sz="1000"/>
            </a:pPr>
            <a:r>
              <a:t>Charging Dynamics (Main Grid Mode):</a:t>
            </a:r>
          </a:p>
          <a:p>
            <a:pPr>
              <a:defRPr sz="900" i="1"/>
            </a:pPr>
            <a:r>
              <a:t>• SOC_{t+1} = min(SOC_t + 50.0 kW * η, 500.0 kWh)</a:t>
            </a:r>
          </a:p>
          <a:p>
            <a:pPr>
              <a:defRPr sz="900"/>
            </a:pPr>
            <a:r>
              <a:t>• Continuous 50 kW charging during low-demand overnight intervals.</a:t>
            </a:r>
          </a:p>
          <a:p>
            <a:br/>
            <a:pPr>
              <a:defRPr b="1" sz="1000"/>
            </a:pPr>
            <a:r>
              <a:t>Verification in Demo Simulation:</a:t>
            </a:r>
          </a:p>
          <a:p>
            <a:pPr>
              <a:defRPr sz="900">
                <a:solidFill>
                  <a:srgbClr val="10B981"/>
                </a:solidFill>
              </a:defRPr>
            </a:pPr>
            <a:r>
              <a:t>• Minimum SOC recorded: exactly 10.0% (reserve floor actively defended)</a:t>
            </a:r>
          </a:p>
          <a:p>
            <a:pPr>
              <a:defRPr sz="900"/>
            </a:pPr>
            <a:r>
              <a:t>• Final 24h SOC: restored safely via overnight grid recharge window.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5912" cy="36576"/>
          </a:xfrm>
          <a:prstGeom prst="rect">
            <a:avLst/>
          </a:prstGeom>
          <a:solidFill>
            <a:srgbClr val="002855"/>
          </a:solidFill>
          <a:ln>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5912" cy="274320"/>
          </a:xfrm>
          <a:prstGeom prst="rect">
            <a:avLst/>
          </a:prstGeom>
          <a:noFill/>
        </p:spPr>
        <p:txBody>
          <a:bodyPr wrap="square">
            <a:spAutoFit/>
          </a:bodyPr>
          <a:lstStyle/>
          <a:p>
            <a:pPr>
              <a:defRPr sz="950" b="1">
                <a:solidFill>
                  <a:srgbClr val="0D9488"/>
                </a:solidFill>
              </a:defRPr>
            </a:pPr>
            <a:r>
              <a:t>09 / USER INTERFACE</a:t>
            </a:r>
          </a:p>
        </p:txBody>
      </p:sp>
      <p:sp>
        <p:nvSpPr>
          <p:cNvPr id="4" name="TextBox 3"/>
          <p:cNvSpPr txBox="1"/>
          <p:nvPr/>
        </p:nvSpPr>
        <p:spPr>
          <a:xfrm>
            <a:off x="731520" y="658368"/>
            <a:ext cx="10725912" cy="548640"/>
          </a:xfrm>
          <a:prstGeom prst="rect">
            <a:avLst/>
          </a:prstGeom>
          <a:noFill/>
        </p:spPr>
        <p:txBody>
          <a:bodyPr wrap="square">
            <a:spAutoFit/>
          </a:bodyPr>
          <a:lstStyle/>
          <a:p>
            <a:pPr>
              <a:defRPr sz="2200" b="1">
                <a:solidFill>
                  <a:srgbClr val="002855"/>
                </a:solidFill>
              </a:defRPr>
            </a:pPr>
            <a:r>
              <a:t>Operator Cockpit: 7 Dedicated Operational Views</a:t>
            </a:r>
          </a:p>
        </p:txBody>
      </p:sp>
      <p:sp>
        <p:nvSpPr>
          <p:cNvPr id="5" name="Rounded Rectangle 4"/>
          <p:cNvSpPr/>
          <p:nvPr/>
        </p:nvSpPr>
        <p:spPr>
          <a:xfrm>
            <a:off x="731520" y="1371600"/>
            <a:ext cx="51206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defRPr sz="1300" b="1">
                <a:solidFill>
                  <a:srgbClr val="002855"/>
                </a:solidFill>
              </a:defRPr>
            </a:pPr>
            <a:r>
              <a:t>Ingestion &amp; Core Monitoring Views</a:t>
            </a:r>
          </a:p>
          <a:p>
            <a:pPr>
              <a:defRPr b="1" sz="950">
                <a:solidFill>
                  <a:srgbClr val="002855"/>
                </a:solidFill>
              </a:defRPr>
            </a:pPr>
            <a:r>
              <a:t>• 01 — Overview Cockpit:</a:t>
            </a:r>
          </a:p>
          <a:p>
            <a:pPr>
              <a:defRPr sz="850">
                <a:solidFill>
                  <a:srgbClr val="0F172A"/>
                </a:solidFill>
              </a:defRPr>
            </a:pPr>
            <a:r>
              <a:t>  6 official KPIs, 24h SVG demand chart, uniform transition timeline sequence, 500 kWh battery state, and live telemetry console.</a:t>
            </a:r>
          </a:p>
          <a:p>
            <a:pPr>
              <a:defRPr b="1" sz="950">
                <a:solidFill>
                  <a:srgbClr val="002855"/>
                </a:solidFill>
              </a:defRPr>
            </a:pPr>
            <a:r>
              <a:t>• 02 — Manual Telemetry Probe:</a:t>
            </a:r>
          </a:p>
          <a:p>
            <a:pPr>
              <a:defRPr sz="850">
                <a:solidFill>
                  <a:srgbClr val="0F172A"/>
                </a:solidFill>
              </a:defRPr>
            </a:pPr>
            <a:r>
              <a:t>  Single-point sensor input form (Ambient Temp -30 to 65°C, Humidity 0-100%, Solar 0-1500 W/m²) with instant dispatch decisions.</a:t>
            </a:r>
          </a:p>
          <a:p>
            <a:pPr>
              <a:defRPr b="1" sz="950">
                <a:solidFill>
                  <a:srgbClr val="002855"/>
                </a:solidFill>
              </a:defRPr>
            </a:pPr>
            <a:r>
              <a:t>• 03 — CSV Batch Telemetry:</a:t>
            </a:r>
          </a:p>
          <a:p>
            <a:pPr>
              <a:defRPr sz="850">
                <a:solidFill>
                  <a:srgbClr val="0F172A"/>
                </a:solidFill>
              </a:defRPr>
            </a:pPr>
            <a:r>
              <a:t>  Drag-and-drop CSV batch ingestion with column schema validation and automatic 24-hour horizon evaluation.</a:t>
            </a:r>
          </a:p>
          <a:p>
            <a:pPr>
              <a:defRPr b="1" sz="950">
                <a:solidFill>
                  <a:srgbClr val="002855"/>
                </a:solidFill>
              </a:defRPr>
            </a:pPr>
            <a:r>
              <a:t>• 04 — Forecast Analysis:</a:t>
            </a:r>
          </a:p>
          <a:p>
            <a:pPr>
              <a:defRPr sz="850">
                <a:solidFill>
                  <a:srgbClr val="0F172A"/>
                </a:solidFill>
              </a:defRPr>
            </a:pPr>
            <a:r>
              <a:t>  Granular 24-hour hourly table with peak hour tags, operating mode badges, and critical overload alerts.</a:t>
            </a:r>
          </a:p>
        </p:txBody>
      </p:sp>
      <p:sp>
        <p:nvSpPr>
          <p:cNvPr id="6" name="Rounded Rectangle 5"/>
          <p:cNvSpPr/>
          <p:nvPr/>
        </p:nvSpPr>
        <p:spPr>
          <a:xfrm>
            <a:off x="6217920" y="1371600"/>
            <a:ext cx="51206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defRPr sz="1300" b="1">
                <a:solidFill>
                  <a:srgbClr val="002855"/>
                </a:solidFill>
              </a:defRPr>
            </a:pPr>
            <a:r>
              <a:t>Control, Advisory &amp; Reporting Views</a:t>
            </a:r>
          </a:p>
          <a:p>
            <a:pPr>
              <a:defRPr b="1" sz="950">
                <a:solidFill>
                  <a:srgbClr val="002855"/>
                </a:solidFill>
              </a:defRPr>
            </a:pPr>
            <a:r>
              <a:t>• 05 — Energy Control:</a:t>
            </a:r>
          </a:p>
          <a:p>
            <a:pPr>
              <a:defRPr sz="850">
                <a:solidFill>
                  <a:srgbClr val="0F172A"/>
                </a:solidFill>
              </a:defRPr>
            </a:pPr>
            <a:r>
              <a:t>  Transparent technical inspection of the 4 transition decision rules, relay mechanisms, and emergency battery safety floor.</a:t>
            </a:r>
          </a:p>
          <a:p>
            <a:pPr>
              <a:defRPr b="1" sz="950">
                <a:solidFill>
                  <a:srgbClr val="002855"/>
                </a:solidFill>
              </a:defRPr>
            </a:pPr>
            <a:r>
              <a:t>• 06 — AI Strategic Advisory:</a:t>
            </a:r>
          </a:p>
          <a:p>
            <a:pPr>
              <a:defRPr sz="850">
                <a:solidFill>
                  <a:srgbClr val="0F172A"/>
                </a:solidFill>
              </a:defRPr>
            </a:pPr>
            <a:r>
              <a:t>  Sub-50ms autonomous grid reasoning engine providing executive health banners, risk analysis, and one-click PDF report export.</a:t>
            </a:r>
          </a:p>
          <a:p>
            <a:pPr>
              <a:defRPr b="1" sz="950">
                <a:solidFill>
                  <a:srgbClr val="002855"/>
                </a:solidFill>
              </a:defRPr>
            </a:pPr>
            <a:r>
              <a:t>• 07 — Operational Reports:</a:t>
            </a:r>
          </a:p>
          <a:p>
            <a:pPr>
              <a:defRPr sz="850">
                <a:solidFill>
                  <a:srgbClr val="0F172A"/>
                </a:solidFill>
              </a:defRPr>
            </a:pPr>
            <a:r>
              <a:t>  Comprehensive 24-hour horizon audit report with real client-side CSV data export for billing and field verification.</a:t>
            </a:r>
          </a:p>
          <a:p>
            <a:pPr>
              <a:defRPr b="1" sz="950">
                <a:solidFill>
                  <a:srgbClr val="002855"/>
                </a:solidFill>
              </a:defRPr>
            </a:pPr>
            <a:r>
              <a:t>• Design Tokens &amp; Accessibility:</a:t>
            </a:r>
          </a:p>
          <a:p>
            <a:pPr>
              <a:defRPr sz="850">
                <a:solidFill>
                  <a:srgbClr val="0F172A"/>
                </a:solidFill>
              </a:defRPr>
            </a:pPr>
            <a:r>
              <a:t>  Charcoal/Navy industrial dark theme, glassmorphic backdrop blur (16px), Space Grotesk &amp; Lora typography, responsive layout.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365760"/>
            <a:ext cx="10725912" cy="36576"/>
          </a:xfrm>
          <a:prstGeom prst="rect">
            <a:avLst/>
          </a:prstGeom>
          <a:solidFill>
            <a:srgbClr val="002855"/>
          </a:solidFill>
          <a:ln>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5912" cy="274320"/>
          </a:xfrm>
          <a:prstGeom prst="rect">
            <a:avLst/>
          </a:prstGeom>
          <a:noFill/>
        </p:spPr>
        <p:txBody>
          <a:bodyPr wrap="square">
            <a:spAutoFit/>
          </a:bodyPr>
          <a:lstStyle/>
          <a:p>
            <a:pPr>
              <a:defRPr sz="950" b="1">
                <a:solidFill>
                  <a:srgbClr val="0D9488"/>
                </a:solidFill>
              </a:defRPr>
            </a:pPr>
            <a:r>
              <a:t>10 / RESULTS &amp; ROADMAP</a:t>
            </a:r>
          </a:p>
        </p:txBody>
      </p:sp>
      <p:sp>
        <p:nvSpPr>
          <p:cNvPr id="4" name="TextBox 3"/>
          <p:cNvSpPr txBox="1"/>
          <p:nvPr/>
        </p:nvSpPr>
        <p:spPr>
          <a:xfrm>
            <a:off x="731520" y="658368"/>
            <a:ext cx="10725912" cy="548640"/>
          </a:xfrm>
          <a:prstGeom prst="rect">
            <a:avLst/>
          </a:prstGeom>
          <a:noFill/>
        </p:spPr>
        <p:txBody>
          <a:bodyPr wrap="square">
            <a:spAutoFit/>
          </a:bodyPr>
          <a:lstStyle/>
          <a:p>
            <a:pPr>
              <a:defRPr sz="2200" b="1">
                <a:solidFill>
                  <a:srgbClr val="002855"/>
                </a:solidFill>
              </a:defRPr>
            </a:pPr>
            <a:r>
              <a:t>Validation Results, Limitations &amp; Future Roadmap</a:t>
            </a:r>
          </a:p>
        </p:txBody>
      </p:sp>
      <p:sp>
        <p:nvSpPr>
          <p:cNvPr id="5" name="Rounded Rectangle 4"/>
          <p:cNvSpPr/>
          <p:nvPr/>
        </p:nvSpPr>
        <p:spPr>
          <a:xfrm>
            <a:off x="731520" y="1371600"/>
            <a:ext cx="32918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defRPr sz="1300" b="1">
                <a:solidFill>
                  <a:srgbClr val="002855"/>
                </a:solidFill>
              </a:defRPr>
            </a:pPr>
            <a:r>
              <a:t>Empirical Results &amp; Verification</a:t>
            </a:r>
          </a:p>
          <a:p>
            <a:pPr>
              <a:defRPr sz="900" i="1">
                <a:solidFill>
                  <a:srgbClr val="64748B"/>
                </a:solidFill>
              </a:defRPr>
            </a:pPr>
            <a:r>
              <a:t>HackSphere Starter Kit Tested</a:t>
            </a:r>
          </a:p>
          <a:p>
            <a:pPr>
              <a:defRPr b="1" sz="950"/>
            </a:pPr>
            <a:r>
              <a:t>• Starter Kit Contract Test:</a:t>
            </a:r>
          </a:p>
          <a:p>
            <a:pPr>
              <a:defRPr sz="900"/>
            </a:pPr>
            <a:r>
              <a:t>  Verified via test_eval.py on 1,000 test rows with output: SUCCESS.</a:t>
            </a:r>
          </a:p>
          <a:p>
            <a:pPr>
              <a:defRPr b="1" sz="950"/>
            </a:pPr>
            <a:r>
              <a:t>• Forecast Accuracy:</a:t>
            </a:r>
          </a:p>
          <a:p>
            <a:pPr>
              <a:defRPr sz="900"/>
            </a:pPr>
            <a:r>
              <a:t>  5-fold CV RMSE: 10.03 kW; Train RMSE: 5.83 kW across 4,000 training rows.</a:t>
            </a:r>
          </a:p>
          <a:p>
            <a:pPr>
              <a:defRPr b="1" sz="950"/>
            </a:pPr>
            <a:r>
              <a:t>• Real-Time Performance:</a:t>
            </a:r>
          </a:p>
          <a:p>
            <a:pPr>
              <a:defRPr sz="900"/>
            </a:pPr>
            <a:r>
              <a:t>  End-to-end 24-hour evaluation in &lt; 50ms on Catalyst AppSail container.</a:t>
            </a:r>
          </a:p>
          <a:p>
            <a:pPr>
              <a:defRPr b="1" sz="950"/>
            </a:pPr>
            <a:r>
              <a:t>• Rule Execution Precision:</a:t>
            </a:r>
          </a:p>
          <a:p>
            <a:pPr>
              <a:defRPr sz="900"/>
            </a:pPr>
            <a:r>
              <a:t>  100% adherence to 160 kW switch, 200 kW alert, and 10% reserve cutoff.</a:t>
            </a:r>
          </a:p>
        </p:txBody>
      </p:sp>
      <p:sp>
        <p:nvSpPr>
          <p:cNvPr id="6" name="Rounded Rectangle 5"/>
          <p:cNvSpPr/>
          <p:nvPr/>
        </p:nvSpPr>
        <p:spPr>
          <a:xfrm>
            <a:off x="4389120" y="1371600"/>
            <a:ext cx="32918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defRPr sz="1300" b="1">
                <a:solidFill>
                  <a:srgbClr val="002855"/>
                </a:solidFill>
              </a:defRPr>
            </a:pPr>
            <a:r>
              <a:t>Current Limitations</a:t>
            </a:r>
          </a:p>
          <a:p>
            <a:pPr>
              <a:defRPr sz="900" i="1">
                <a:solidFill>
                  <a:srgbClr val="64748B"/>
                </a:solidFill>
              </a:defRPr>
            </a:pPr>
            <a:r>
              <a:t>Honest Engineering Boundaries</a:t>
            </a:r>
          </a:p>
          <a:p>
            <a:pPr>
              <a:defRPr b="1" sz="950"/>
            </a:pPr>
            <a:r>
              <a:t>• Deterministic Battery Degradation:</a:t>
            </a:r>
          </a:p>
          <a:p>
            <a:pPr>
              <a:defRPr sz="900"/>
            </a:pPr>
            <a:r>
              <a:t>  Current model uses 92% roundtrip efficiency; does not model ambient cell thermal derating.</a:t>
            </a:r>
          </a:p>
          <a:p>
            <a:pPr>
              <a:defRPr b="1" sz="950"/>
            </a:pPr>
            <a:r>
              <a:t>• Static Utility Tariff Model:</a:t>
            </a:r>
          </a:p>
          <a:p>
            <a:pPr>
              <a:defRPr sz="900"/>
            </a:pPr>
            <a:r>
              <a:t>  Peak window fixed at 18:00–22:00; does not yet ingest dynamic real-time wholesale spot prices.</a:t>
            </a:r>
          </a:p>
          <a:p>
            <a:pPr>
              <a:defRPr b="1" sz="950"/>
            </a:pPr>
            <a:r>
              <a:t>• Single Microgrid Bus:</a:t>
            </a:r>
          </a:p>
          <a:p>
            <a:pPr>
              <a:defRPr sz="900"/>
            </a:pPr>
            <a:r>
              <a:t>  Assumes unified point-of-common-coupling; multi-bus distributed feeder routing not yet simulated.</a:t>
            </a:r>
          </a:p>
        </p:txBody>
      </p:sp>
      <p:sp>
        <p:nvSpPr>
          <p:cNvPr id="7" name="Rounded Rectangle 6"/>
          <p:cNvSpPr/>
          <p:nvPr/>
        </p:nvSpPr>
        <p:spPr>
          <a:xfrm>
            <a:off x="8046720" y="1371600"/>
            <a:ext cx="32918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defRPr sz="1300" b="1">
                <a:solidFill>
                  <a:srgbClr val="002855"/>
                </a:solidFill>
              </a:defRPr>
            </a:pPr>
            <a:r>
              <a:t>Future Roadmap</a:t>
            </a:r>
          </a:p>
          <a:p>
            <a:pPr>
              <a:defRPr sz="900" i="1">
                <a:solidFill>
                  <a:srgbClr val="64748B"/>
                </a:solidFill>
              </a:defRPr>
            </a:pPr>
            <a:r>
              <a:t>Planned Next Steps</a:t>
            </a:r>
          </a:p>
          <a:p>
            <a:pPr>
              <a:defRPr b="1" sz="950"/>
            </a:pPr>
            <a:r>
              <a:t>• Catalyst IoT &amp; Event Triggers:</a:t>
            </a:r>
          </a:p>
          <a:p>
            <a:pPr>
              <a:defRPr sz="900"/>
            </a:pPr>
            <a:r>
              <a:t>  Direct integration with Zoho Catalyst Event Listeners for real-time SCADA MQTT telemetry streaming.</a:t>
            </a:r>
          </a:p>
          <a:p>
            <a:pPr>
              <a:defRPr b="1" sz="950"/>
            </a:pPr>
            <a:r>
              <a:t>• Multi-Asset Battery Optimization:</a:t>
            </a:r>
          </a:p>
          <a:p>
            <a:pPr>
              <a:defRPr sz="900"/>
            </a:pPr>
            <a:r>
              <a:t>  Reinforcement learning (PPO) dispatch across distributed solar + BESS + EV fleet chargers.</a:t>
            </a:r>
          </a:p>
          <a:p>
            <a:pPr>
              <a:defRPr b="1" sz="950"/>
            </a:pPr>
            <a:r>
              <a:t>• Multi-Agent Collaboration:</a:t>
            </a:r>
          </a:p>
          <a:p>
            <a:pPr>
              <a:defRPr sz="900"/>
            </a:pPr>
            <a:r>
              <a:t>  Autonomous grid agent bidding in localized peer-to-peer energy trading markets.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114800"/>
          </a:xfrm>
          <a:prstGeom prst="rect">
            <a:avLst/>
          </a:prstGeom>
          <a:solidFill>
            <a:srgbClr val="002855"/>
          </a:solidFill>
          <a:ln>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32720" cy="365760"/>
          </a:xfrm>
          <a:prstGeom prst="rect">
            <a:avLst/>
          </a:prstGeom>
          <a:noFill/>
        </p:spPr>
        <p:txBody>
          <a:bodyPr wrap="none">
            <a:spAutoFit/>
          </a:bodyPr>
          <a:lstStyle/>
          <a:p>
            <a:pPr>
              <a:defRPr sz="1100" b="1">
                <a:solidFill>
                  <a:srgbClr val="34D399"/>
                </a:solidFill>
              </a:defRPr>
            </a:pPr>
            <a:r>
              <a:t>HACKSPHERE 3.0 · PROJECT EVALUATION SUMMARY</a:t>
            </a:r>
          </a:p>
        </p:txBody>
      </p:sp>
      <p:sp>
        <p:nvSpPr>
          <p:cNvPr id="4" name="TextBox 3"/>
          <p:cNvSpPr txBox="1"/>
          <p:nvPr/>
        </p:nvSpPr>
        <p:spPr>
          <a:xfrm>
            <a:off x="914400" y="1188720"/>
            <a:ext cx="10332720" cy="1097280"/>
          </a:xfrm>
          <a:prstGeom prst="rect">
            <a:avLst/>
          </a:prstGeom>
          <a:noFill/>
        </p:spPr>
        <p:txBody>
          <a:bodyPr wrap="none">
            <a:spAutoFit/>
          </a:bodyPr>
          <a:lstStyle/>
          <a:p>
            <a:pPr>
              <a:defRPr sz="3000" b="1">
                <a:solidFill>
                  <a:srgbClr val="FFFFFF"/>
                </a:solidFill>
              </a:defRPr>
            </a:pPr>
            <a:r>
              <a:t>Autonomous Microgrid Intelligence Delivered.</a:t>
            </a:r>
          </a:p>
        </p:txBody>
      </p:sp>
      <p:sp>
        <p:nvSpPr>
          <p:cNvPr id="5" name="TextBox 4"/>
          <p:cNvSpPr txBox="1"/>
          <p:nvPr/>
        </p:nvSpPr>
        <p:spPr>
          <a:xfrm>
            <a:off x="914400" y="2377440"/>
            <a:ext cx="10332720" cy="1280160"/>
          </a:xfrm>
          <a:prstGeom prst="rect">
            <a:avLst/>
          </a:prstGeom>
          <a:noFill/>
        </p:spPr>
        <p:txBody>
          <a:bodyPr wrap="square">
            <a:spAutoFit/>
          </a:bodyPr>
          <a:lstStyle/>
          <a:p>
            <a:pPr>
              <a:lnSpc>
                <a:spcPct val="130000"/>
              </a:lnSpc>
              <a:defRPr sz="1250">
                <a:solidFill>
                  <a:srgbClr val="E2E8F0"/>
                </a:solidFill>
              </a:defRPr>
            </a:pPr>
            <a:r>
              <a:t>✓ 100% Problem Statement Compliance (QuickML Pipeline, 160 kW Switch, 200 kW Alert, 10% Floor)</a:t>
            </a:r>
            <a:br/>
            <a:r>
              <a:t>✓ Pre-Submission Self-Tester (test_eval.py) Passed with SUCCESS on 1,000 Test Rows</a:t>
            </a:r>
            <a:br/>
            <a:r>
              <a:t>✓ Production Full-Stack Container Deployed Live on Zoho Catalyst AppSail</a:t>
            </a:r>
          </a:p>
        </p:txBody>
      </p:sp>
      <p:sp>
        <p:nvSpPr>
          <p:cNvPr id="6" name="Rounded Rectangle 5"/>
          <p:cNvSpPr/>
          <p:nvPr/>
        </p:nvSpPr>
        <p:spPr>
          <a:xfrm>
            <a:off x="914400" y="4480560"/>
            <a:ext cx="4937760"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defRPr sz="1300" b="1">
                <a:solidFill>
                  <a:srgbClr val="002855"/>
                </a:solidFill>
              </a:defRPr>
            </a:pPr>
            <a:r>
              <a:t>Live Production Deployment</a:t>
            </a:r>
          </a:p>
          <a:p>
            <a:pPr>
              <a:defRPr sz="900" i="1">
                <a:solidFill>
                  <a:srgbClr val="64748B"/>
                </a:solidFill>
              </a:defRPr>
            </a:pPr>
            <a:r>
              <a:t>Zoho Catalyst AppSail Container</a:t>
            </a:r>
          </a:p>
          <a:p>
            <a:pPr>
              <a:defRPr sz="950" b="1">
                <a:solidFill>
                  <a:srgbClr val="002855"/>
                </a:solidFill>
              </a:defRPr>
            </a:pPr>
            <a:r>
              <a:t>URL: https://hacksphere-microgrid-1-50047153149.development.catalystappsail.in</a:t>
            </a:r>
          </a:p>
          <a:p>
            <a:pPr>
              <a:defRPr sz="900">
                <a:solidFill>
                  <a:srgbClr val="10B981"/>
                </a:solidFill>
              </a:defRPr>
            </a:pPr>
            <a:r>
              <a:t>Status: Healthy · HTTP 200 OK · Serving REST API &amp; React SPA</a:t>
            </a:r>
          </a:p>
        </p:txBody>
      </p:sp>
      <p:sp>
        <p:nvSpPr>
          <p:cNvPr id="7" name="Rounded Rectangle 6"/>
          <p:cNvSpPr/>
          <p:nvPr/>
        </p:nvSpPr>
        <p:spPr>
          <a:xfrm>
            <a:off x="6217920" y="4480560"/>
            <a:ext cx="4937760"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defRPr sz="1300" b="1">
                <a:solidFill>
                  <a:srgbClr val="002855"/>
                </a:solidFill>
              </a:defRPr>
            </a:pPr>
            <a:r>
              <a:t>Source Code &amp; Q&amp;A</a:t>
            </a:r>
          </a:p>
          <a:p>
            <a:pPr>
              <a:defRPr sz="900" i="1">
                <a:solidFill>
                  <a:srgbClr val="64748B"/>
                </a:solidFill>
              </a:defRPr>
            </a:pPr>
            <a:r>
              <a:t>Open-Source Hackathon Submission</a:t>
            </a:r>
          </a:p>
          <a:p>
            <a:pPr>
              <a:defRPr sz="950" b="1">
                <a:solidFill>
                  <a:srgbClr val="002855"/>
                </a:solidFill>
              </a:defRPr>
            </a:pPr>
            <a:r>
              <a:t>GitHub: https://github.com/Bharadwajcs-AI/HackSphere3.0-Microgrid</a:t>
            </a:r>
          </a:p>
          <a:p>
            <a:pPr>
              <a:defRPr sz="1100" b="1">
                <a:solidFill>
                  <a:srgbClr val="DC2626"/>
                </a:solidFill>
              </a:defRPr>
            </a:pPr>
            <a:r>
              <a:t>Ready for Questions &amp; Live Demonstration!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